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embeddedFontLst>
    <p:embeddedFont>
      <p:font typeface="MiSans" panose="020B0604020202020204" charset="-122"/>
      <p:regular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image" Target="../media/image2.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notesSlide" Target="../notesSlides/notesSlide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slideLayout" Target="../slideLayouts/slideLayout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2-d3ce46gs8jdo4os5dcpg.png"/>
          <p:cNvPicPr>
            <a:picLocks noChangeAspect="1"/>
          </p:cNvPicPr>
          <p:nvPr/>
        </p:nvPicPr>
        <p:blipFill>
          <a:blip r:embed="rId3"/>
          <a:srcRect l="3" r="3"/>
          <a:stretch>
            <a:fillRect/>
          </a:stretch>
        </p:blipFill>
        <p:spPr>
          <a:xfrm>
            <a:off x="-15875" y="-4445"/>
            <a:ext cx="12233910" cy="6859905"/>
          </a:xfrm>
          <a:prstGeom prst="rect">
            <a:avLst/>
          </a:prstGeom>
        </p:spPr>
      </p:pic>
      <p:sp>
        <p:nvSpPr>
          <p:cNvPr id="3" name="Text 0"/>
          <p:cNvSpPr/>
          <p:nvPr/>
        </p:nvSpPr>
        <p:spPr>
          <a:xfrm>
            <a:off x="2842895" y="2765425"/>
            <a:ext cx="6506210" cy="1569660"/>
          </a:xfrm>
          <a:prstGeom prst="rect">
            <a:avLst/>
          </a:prstGeom>
          <a:noFill/>
        </p:spPr>
        <p:txBody>
          <a:bodyPr wrap="square" lIns="91440" tIns="45720" rIns="91440" bIns="45720" rtlCol="0" anchor="t">
            <a:spAutoFit/>
          </a:bodyPr>
          <a:lstStyle/>
          <a:p>
            <a:pPr marL="0" indent="0" algn="ctr">
              <a:lnSpc>
                <a:spcPct val="100000"/>
              </a:lnSpc>
              <a:buNone/>
            </a:pPr>
            <a:r>
              <a:rPr lang="en-US" sz="4800" b="1" dirty="0">
                <a:solidFill>
                  <a:srgbClr val="FFFFFF"/>
                </a:solidFill>
                <a:latin typeface="Times New Roman" panose="02020603050405020304" pitchFamily="18" charset="0"/>
                <a:ea typeface="MiSans" pitchFamily="34" charset="-122"/>
                <a:cs typeface="Times New Roman" panose="02020603050405020304" pitchFamily="18" charset="0"/>
              </a:rPr>
              <a:t>Elasticsearch và Ứng Dụng Trong Big Data</a:t>
            </a:r>
            <a:endParaRPr lang="en-US" sz="1600" dirty="0">
              <a:latin typeface="Times New Roman" panose="02020603050405020304" pitchFamily="18" charset="0"/>
              <a:cs typeface="Times New Roman" panose="02020603050405020304" pitchFamily="18" charset="0"/>
            </a:endParaRPr>
          </a:p>
        </p:txBody>
      </p:sp>
      <p:sp>
        <p:nvSpPr>
          <p:cNvPr id="4" name="Shape 1"/>
          <p:cNvSpPr/>
          <p:nvPr/>
        </p:nvSpPr>
        <p:spPr>
          <a:xfrm>
            <a:off x="4926958" y="4684395"/>
            <a:ext cx="2337402" cy="502920"/>
          </a:xfrm>
          <a:prstGeom prst="roundRect">
            <a:avLst>
              <a:gd name="adj" fmla="val 50000"/>
            </a:avLst>
          </a:prstGeom>
          <a:solidFill>
            <a:srgbClr val="000000">
              <a:alpha val="0"/>
            </a:srgbClr>
          </a:solidFill>
          <a:ln w="19050">
            <a:solidFill>
              <a:srgbClr val="FFFFFF"/>
            </a:solidFill>
            <a:prstDash val="solid"/>
          </a:ln>
        </p:spPr>
      </p:sp>
      <p:sp>
        <p:nvSpPr>
          <p:cNvPr id="5" name="Text 2"/>
          <p:cNvSpPr/>
          <p:nvPr/>
        </p:nvSpPr>
        <p:spPr>
          <a:xfrm>
            <a:off x="4926958" y="4684395"/>
            <a:ext cx="2337402" cy="502920"/>
          </a:xfrm>
          <a:prstGeom prst="rect">
            <a:avLst/>
          </a:prstGeom>
          <a:noFill/>
        </p:spPr>
        <p:txBody>
          <a:bodyPr wrap="square" lIns="45720" tIns="91440" rIns="91440" bIns="45720" rtlCol="0" anchor="ctr"/>
          <a:lstStyle/>
          <a:p>
            <a:pPr marL="0" indent="0">
              <a:lnSpc>
                <a:spcPct val="100000"/>
              </a:lnSpc>
              <a:buNone/>
            </a:pPr>
            <a:endParaRPr lang="en-US" sz="1600" dirty="0">
              <a:latin typeface="Times New Roman" panose="02020603050405020304" pitchFamily="18" charset="0"/>
              <a:cs typeface="Times New Roman" panose="02020603050405020304" pitchFamily="18" charset="0"/>
            </a:endParaRPr>
          </a:p>
        </p:txBody>
      </p:sp>
      <p:sp>
        <p:nvSpPr>
          <p:cNvPr id="6" name="Text 3"/>
          <p:cNvSpPr/>
          <p:nvPr/>
        </p:nvSpPr>
        <p:spPr>
          <a:xfrm>
            <a:off x="4889500" y="4736465"/>
            <a:ext cx="2413000" cy="400110"/>
          </a:xfrm>
          <a:prstGeom prst="rect">
            <a:avLst/>
          </a:prstGeom>
          <a:noFill/>
        </p:spPr>
        <p:txBody>
          <a:bodyPr wrap="square" lIns="91440" tIns="45720" rIns="91440" bIns="45720" rtlCol="0" anchor="t">
            <a:spAutoFit/>
          </a:bodyPr>
          <a:lstStyle/>
          <a:p>
            <a:pPr marL="0" indent="0" algn="ctr">
              <a:lnSpc>
                <a:spcPct val="100000"/>
              </a:lnSpc>
              <a:buNone/>
            </a:pPr>
            <a:r>
              <a:rPr lang="en-US" sz="2000" dirty="0">
                <a:solidFill>
                  <a:srgbClr val="FFFFFF"/>
                </a:solidFill>
                <a:latin typeface="Times New Roman" panose="02020603050405020304" pitchFamily="18" charset="0"/>
                <a:ea typeface="MiSans" pitchFamily="34" charset="-122"/>
                <a:cs typeface="Times New Roman" panose="02020603050405020304" pitchFamily="18" charset="0"/>
              </a:rPr>
              <a:t>Nhóm 4_64HTTT3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2-d3ce46gs8jdo4os5dcog.png"/>
          <p:cNvPicPr>
            <a:picLocks noChangeAspect="1"/>
          </p:cNvPicPr>
          <p:nvPr/>
        </p:nvPicPr>
        <p:blipFill>
          <a:blip r:embed="rId21"/>
          <a:srcRect l="16" r="16"/>
          <a:stretch>
            <a:fillRect/>
          </a:stretch>
        </p:blipFill>
        <p:spPr>
          <a:xfrm>
            <a:off x="0" y="39246"/>
            <a:ext cx="12230735" cy="6925945"/>
          </a:xfrm>
          <a:prstGeom prst="rect">
            <a:avLst/>
          </a:prstGeom>
        </p:spPr>
      </p:pic>
      <p:sp>
        <p:nvSpPr>
          <p:cNvPr id="3" name="Text 0"/>
          <p:cNvSpPr/>
          <p:nvPr>
            <p:custDataLst>
              <p:tags r:id="rId1"/>
            </p:custDataLst>
          </p:nvPr>
        </p:nvSpPr>
        <p:spPr>
          <a:xfrm>
            <a:off x="6385126" y="1236445"/>
            <a:ext cx="4367961" cy="400110"/>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1A1A1A"/>
                </a:solidFill>
                <a:latin typeface="Times New Roman" panose="02020603050405020304" pitchFamily="18" charset="0"/>
                <a:ea typeface="MiSans" pitchFamily="34" charset="-122"/>
                <a:cs typeface="Times New Roman" panose="02020603050405020304" pitchFamily="18" charset="0"/>
              </a:rPr>
              <a:t>Giới thiệu Big Data</a:t>
            </a:r>
            <a:endParaRPr lang="en-US" sz="1600" dirty="0">
              <a:latin typeface="Times New Roman" panose="02020603050405020304" pitchFamily="18" charset="0"/>
              <a:cs typeface="Times New Roman" panose="02020603050405020304" pitchFamily="18" charset="0"/>
            </a:endParaRPr>
          </a:p>
        </p:txBody>
      </p:sp>
      <p:sp>
        <p:nvSpPr>
          <p:cNvPr id="4" name="Text 1"/>
          <p:cNvSpPr/>
          <p:nvPr>
            <p:custDataLst>
              <p:tags r:id="rId2"/>
            </p:custDataLst>
          </p:nvPr>
        </p:nvSpPr>
        <p:spPr>
          <a:xfrm>
            <a:off x="5676900" y="1186498"/>
            <a:ext cx="690634" cy="453495"/>
          </a:xfrm>
          <a:prstGeom prst="rect">
            <a:avLst/>
          </a:prstGeom>
          <a:noFill/>
        </p:spPr>
        <p:txBody>
          <a:bodyPr wrap="square" lIns="91440" tIns="45720" rIns="91440" bIns="45720" rtlCol="0" anchor="t"/>
          <a:lstStyle/>
          <a:p>
            <a:pPr marL="0" indent="0">
              <a:lnSpc>
                <a:spcPct val="100000"/>
              </a:lnSpc>
              <a:buNone/>
            </a:pPr>
            <a:r>
              <a:rPr lang="en-US" sz="2800" b="1" dirty="0">
                <a:solidFill>
                  <a:srgbClr val="D3BDA6"/>
                </a:solidFill>
                <a:latin typeface="Times New Roman" panose="02020603050405020304" pitchFamily="18" charset="0"/>
                <a:ea typeface="MiSans" pitchFamily="34" charset="-122"/>
                <a:cs typeface="Times New Roman" panose="02020603050405020304" pitchFamily="18" charset="0"/>
              </a:rPr>
              <a:t>01</a:t>
            </a:r>
            <a:endParaRPr lang="en-US" sz="1600" dirty="0">
              <a:latin typeface="Times New Roman" panose="02020603050405020304" pitchFamily="18" charset="0"/>
              <a:cs typeface="Times New Roman" panose="02020603050405020304" pitchFamily="18" charset="0"/>
            </a:endParaRPr>
          </a:p>
        </p:txBody>
      </p:sp>
      <p:sp>
        <p:nvSpPr>
          <p:cNvPr id="5" name="Shape 2"/>
          <p:cNvSpPr/>
          <p:nvPr>
            <p:custDataLst>
              <p:tags r:id="rId3"/>
            </p:custDataLst>
          </p:nvPr>
        </p:nvSpPr>
        <p:spPr>
          <a:xfrm>
            <a:off x="5738189" y="1791537"/>
            <a:ext cx="5239624" cy="20433"/>
          </a:xfrm>
          <a:prstGeom prst="line">
            <a:avLst/>
          </a:prstGeom>
          <a:noFill/>
          <a:ln w="12700">
            <a:solidFill>
              <a:srgbClr val="D3BDA6"/>
            </a:solidFill>
            <a:prstDash val="solid"/>
            <a:headEnd type="none"/>
            <a:tailEnd type="none"/>
          </a:ln>
        </p:spPr>
      </p:sp>
      <p:sp>
        <p:nvSpPr>
          <p:cNvPr id="6" name="Text 3"/>
          <p:cNvSpPr/>
          <p:nvPr>
            <p:custDataLst>
              <p:tags r:id="rId4"/>
            </p:custDataLst>
          </p:nvPr>
        </p:nvSpPr>
        <p:spPr>
          <a:xfrm>
            <a:off x="6385126" y="2008352"/>
            <a:ext cx="4367961" cy="398780"/>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1A1A1A"/>
                </a:solidFill>
                <a:latin typeface="Times New Roman" panose="02020603050405020304" pitchFamily="18" charset="0"/>
                <a:ea typeface="MiSans" pitchFamily="34" charset="-122"/>
                <a:cs typeface="Times New Roman" panose="02020603050405020304" pitchFamily="18" charset="0"/>
              </a:rPr>
              <a:t>Giới thiệu Elasticsearch </a:t>
            </a:r>
            <a:endParaRPr lang="en-US" sz="1600" dirty="0">
              <a:latin typeface="Times New Roman" panose="02020603050405020304" pitchFamily="18" charset="0"/>
              <a:cs typeface="Times New Roman" panose="02020603050405020304" pitchFamily="18" charset="0"/>
            </a:endParaRPr>
          </a:p>
        </p:txBody>
      </p:sp>
      <p:sp>
        <p:nvSpPr>
          <p:cNvPr id="7" name="Text 4"/>
          <p:cNvSpPr/>
          <p:nvPr>
            <p:custDataLst>
              <p:tags r:id="rId5"/>
            </p:custDataLst>
          </p:nvPr>
        </p:nvSpPr>
        <p:spPr>
          <a:xfrm>
            <a:off x="5676900" y="1958405"/>
            <a:ext cx="690634" cy="453495"/>
          </a:xfrm>
          <a:prstGeom prst="rect">
            <a:avLst/>
          </a:prstGeom>
          <a:noFill/>
        </p:spPr>
        <p:txBody>
          <a:bodyPr wrap="square" lIns="91440" tIns="45720" rIns="91440" bIns="45720" rtlCol="0" anchor="t"/>
          <a:lstStyle/>
          <a:p>
            <a:pPr marL="0" indent="0">
              <a:lnSpc>
                <a:spcPct val="100000"/>
              </a:lnSpc>
              <a:buNone/>
            </a:pPr>
            <a:r>
              <a:rPr lang="en-US" sz="2800" b="1" dirty="0">
                <a:solidFill>
                  <a:srgbClr val="D3BDA6"/>
                </a:solidFill>
                <a:latin typeface="Times New Roman" panose="02020603050405020304" pitchFamily="18" charset="0"/>
                <a:ea typeface="MiSans" pitchFamily="34" charset="-122"/>
                <a:cs typeface="Times New Roman" panose="02020603050405020304" pitchFamily="18" charset="0"/>
              </a:rPr>
              <a:t>02</a:t>
            </a:r>
            <a:endParaRPr lang="en-US" sz="1600" dirty="0">
              <a:latin typeface="Times New Roman" panose="02020603050405020304" pitchFamily="18" charset="0"/>
              <a:cs typeface="Times New Roman" panose="02020603050405020304" pitchFamily="18" charset="0"/>
            </a:endParaRPr>
          </a:p>
        </p:txBody>
      </p:sp>
      <p:sp>
        <p:nvSpPr>
          <p:cNvPr id="8" name="Shape 5"/>
          <p:cNvSpPr/>
          <p:nvPr>
            <p:custDataLst>
              <p:tags r:id="rId6"/>
            </p:custDataLst>
          </p:nvPr>
        </p:nvSpPr>
        <p:spPr>
          <a:xfrm>
            <a:off x="5738189" y="2563443"/>
            <a:ext cx="5239624" cy="20433"/>
          </a:xfrm>
          <a:prstGeom prst="line">
            <a:avLst/>
          </a:prstGeom>
          <a:noFill/>
          <a:ln w="12700">
            <a:solidFill>
              <a:srgbClr val="D3BDA6"/>
            </a:solidFill>
            <a:prstDash val="solid"/>
            <a:headEnd type="none"/>
            <a:tailEnd type="none"/>
          </a:ln>
        </p:spPr>
      </p:sp>
      <p:sp>
        <p:nvSpPr>
          <p:cNvPr id="9" name="Text 6"/>
          <p:cNvSpPr/>
          <p:nvPr>
            <p:custDataLst>
              <p:tags r:id="rId7"/>
            </p:custDataLst>
          </p:nvPr>
        </p:nvSpPr>
        <p:spPr>
          <a:xfrm>
            <a:off x="6385126" y="2780258"/>
            <a:ext cx="4367961" cy="400110"/>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1A1A1A"/>
                </a:solidFill>
                <a:latin typeface="Times New Roman" panose="02020603050405020304" pitchFamily="18" charset="0"/>
                <a:ea typeface="MiSans" pitchFamily="34" charset="-122"/>
                <a:cs typeface="Times New Roman" panose="02020603050405020304" pitchFamily="18" charset="0"/>
              </a:rPr>
              <a:t>Giới thiệu MongoDB</a:t>
            </a:r>
            <a:endParaRPr lang="en-US" sz="1600" dirty="0">
              <a:latin typeface="Times New Roman" panose="02020603050405020304" pitchFamily="18" charset="0"/>
              <a:cs typeface="Times New Roman" panose="02020603050405020304" pitchFamily="18" charset="0"/>
            </a:endParaRPr>
          </a:p>
        </p:txBody>
      </p:sp>
      <p:sp>
        <p:nvSpPr>
          <p:cNvPr id="10" name="Text 7"/>
          <p:cNvSpPr/>
          <p:nvPr>
            <p:custDataLst>
              <p:tags r:id="rId8"/>
            </p:custDataLst>
          </p:nvPr>
        </p:nvSpPr>
        <p:spPr>
          <a:xfrm>
            <a:off x="5676900" y="2730311"/>
            <a:ext cx="690634" cy="453495"/>
          </a:xfrm>
          <a:prstGeom prst="rect">
            <a:avLst/>
          </a:prstGeom>
          <a:noFill/>
        </p:spPr>
        <p:txBody>
          <a:bodyPr wrap="square" lIns="91440" tIns="45720" rIns="91440" bIns="45720" rtlCol="0" anchor="t"/>
          <a:lstStyle/>
          <a:p>
            <a:pPr marL="0" indent="0">
              <a:lnSpc>
                <a:spcPct val="100000"/>
              </a:lnSpc>
              <a:buNone/>
            </a:pPr>
            <a:r>
              <a:rPr lang="en-US" sz="2800" b="1" dirty="0">
                <a:solidFill>
                  <a:srgbClr val="D3BDA6"/>
                </a:solidFill>
                <a:latin typeface="Times New Roman" panose="02020603050405020304" pitchFamily="18" charset="0"/>
                <a:ea typeface="MiSans" pitchFamily="34" charset="-122"/>
                <a:cs typeface="Times New Roman" panose="02020603050405020304" pitchFamily="18" charset="0"/>
              </a:rPr>
              <a:t>03</a:t>
            </a:r>
            <a:endParaRPr lang="en-US" sz="1600" dirty="0">
              <a:latin typeface="Times New Roman" panose="02020603050405020304" pitchFamily="18" charset="0"/>
              <a:cs typeface="Times New Roman" panose="02020603050405020304" pitchFamily="18" charset="0"/>
            </a:endParaRPr>
          </a:p>
        </p:txBody>
      </p:sp>
      <p:sp>
        <p:nvSpPr>
          <p:cNvPr id="11" name="Shape 8"/>
          <p:cNvSpPr/>
          <p:nvPr>
            <p:custDataLst>
              <p:tags r:id="rId9"/>
            </p:custDataLst>
          </p:nvPr>
        </p:nvSpPr>
        <p:spPr>
          <a:xfrm>
            <a:off x="5738189" y="3335350"/>
            <a:ext cx="5239624" cy="20433"/>
          </a:xfrm>
          <a:prstGeom prst="line">
            <a:avLst/>
          </a:prstGeom>
          <a:noFill/>
          <a:ln w="12700">
            <a:solidFill>
              <a:srgbClr val="D3BDA6"/>
            </a:solidFill>
            <a:prstDash val="solid"/>
            <a:headEnd type="none"/>
            <a:tailEnd type="none"/>
          </a:ln>
        </p:spPr>
      </p:sp>
      <p:sp>
        <p:nvSpPr>
          <p:cNvPr id="12" name="Text 9"/>
          <p:cNvSpPr/>
          <p:nvPr>
            <p:custDataLst>
              <p:tags r:id="rId10"/>
            </p:custDataLst>
          </p:nvPr>
        </p:nvSpPr>
        <p:spPr>
          <a:xfrm>
            <a:off x="6451801" y="3398713"/>
            <a:ext cx="4367961" cy="706755"/>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Times New Roman" panose="02020603050405020304" pitchFamily="18" charset="0"/>
                <a:ea typeface="Arial, sans-serif" pitchFamily="34" charset="-122"/>
                <a:cs typeface="Times New Roman" panose="02020603050405020304" pitchFamily="18" charset="0"/>
              </a:rPr>
              <a:t>Áp dụng Elasticsearch trong hệ thống tìm kiếm nhạc </a:t>
            </a:r>
          </a:p>
        </p:txBody>
      </p:sp>
      <p:sp>
        <p:nvSpPr>
          <p:cNvPr id="13" name="Text 10"/>
          <p:cNvSpPr/>
          <p:nvPr>
            <p:custDataLst>
              <p:tags r:id="rId11"/>
            </p:custDataLst>
          </p:nvPr>
        </p:nvSpPr>
        <p:spPr>
          <a:xfrm>
            <a:off x="5676900" y="3502218"/>
            <a:ext cx="690634" cy="453495"/>
          </a:xfrm>
          <a:prstGeom prst="rect">
            <a:avLst/>
          </a:prstGeom>
          <a:noFill/>
        </p:spPr>
        <p:txBody>
          <a:bodyPr wrap="square" lIns="91440" tIns="45720" rIns="91440" bIns="45720" rtlCol="0" anchor="t"/>
          <a:lstStyle/>
          <a:p>
            <a:pPr marL="0" indent="0">
              <a:lnSpc>
                <a:spcPct val="100000"/>
              </a:lnSpc>
              <a:buNone/>
            </a:pPr>
            <a:r>
              <a:rPr lang="en-US" sz="2800" b="1" dirty="0">
                <a:solidFill>
                  <a:srgbClr val="D3BDA6"/>
                </a:solidFill>
                <a:latin typeface="Times New Roman" panose="02020603050405020304" pitchFamily="18" charset="0"/>
                <a:ea typeface="MiSans" pitchFamily="34" charset="-122"/>
                <a:cs typeface="Times New Roman" panose="02020603050405020304" pitchFamily="18" charset="0"/>
              </a:rPr>
              <a:t>04</a:t>
            </a:r>
            <a:endParaRPr lang="en-US" sz="1600" dirty="0">
              <a:latin typeface="Times New Roman" panose="02020603050405020304" pitchFamily="18" charset="0"/>
              <a:cs typeface="Times New Roman" panose="02020603050405020304" pitchFamily="18" charset="0"/>
            </a:endParaRPr>
          </a:p>
        </p:txBody>
      </p:sp>
      <p:sp>
        <p:nvSpPr>
          <p:cNvPr id="14" name="Shape 11"/>
          <p:cNvSpPr/>
          <p:nvPr>
            <p:custDataLst>
              <p:tags r:id="rId12"/>
            </p:custDataLst>
          </p:nvPr>
        </p:nvSpPr>
        <p:spPr>
          <a:xfrm>
            <a:off x="5738189" y="4107257"/>
            <a:ext cx="5239624" cy="20433"/>
          </a:xfrm>
          <a:prstGeom prst="line">
            <a:avLst/>
          </a:prstGeom>
          <a:noFill/>
          <a:ln w="12700">
            <a:solidFill>
              <a:srgbClr val="D3BDA6"/>
            </a:solidFill>
            <a:prstDash val="solid"/>
            <a:headEnd type="none"/>
            <a:tailEnd type="none"/>
          </a:ln>
        </p:spPr>
      </p:sp>
      <p:sp>
        <p:nvSpPr>
          <p:cNvPr id="15" name="Text 12"/>
          <p:cNvSpPr/>
          <p:nvPr>
            <p:custDataLst>
              <p:tags r:id="rId13"/>
            </p:custDataLst>
          </p:nvPr>
        </p:nvSpPr>
        <p:spPr>
          <a:xfrm>
            <a:off x="6385126" y="4324072"/>
            <a:ext cx="4367961" cy="400110"/>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1A1A1A"/>
                </a:solidFill>
                <a:latin typeface="Times New Roman" panose="02020603050405020304" pitchFamily="18" charset="0"/>
                <a:ea typeface="MiSans" pitchFamily="34" charset="-122"/>
                <a:cs typeface="Times New Roman" panose="02020603050405020304" pitchFamily="18" charset="0"/>
              </a:rPr>
              <a:t>Triển khai trên MongoDB</a:t>
            </a:r>
            <a:endParaRPr lang="en-US" sz="1600" dirty="0">
              <a:latin typeface="Times New Roman" panose="02020603050405020304" pitchFamily="18" charset="0"/>
              <a:cs typeface="Times New Roman" panose="02020603050405020304" pitchFamily="18" charset="0"/>
            </a:endParaRPr>
          </a:p>
        </p:txBody>
      </p:sp>
      <p:sp>
        <p:nvSpPr>
          <p:cNvPr id="16" name="Text 13"/>
          <p:cNvSpPr/>
          <p:nvPr>
            <p:custDataLst>
              <p:tags r:id="rId14"/>
            </p:custDataLst>
          </p:nvPr>
        </p:nvSpPr>
        <p:spPr>
          <a:xfrm>
            <a:off x="5676900" y="4274125"/>
            <a:ext cx="690634" cy="453495"/>
          </a:xfrm>
          <a:prstGeom prst="rect">
            <a:avLst/>
          </a:prstGeom>
          <a:noFill/>
        </p:spPr>
        <p:txBody>
          <a:bodyPr wrap="square" lIns="91440" tIns="45720" rIns="91440" bIns="45720" rtlCol="0" anchor="t"/>
          <a:lstStyle/>
          <a:p>
            <a:pPr marL="0" indent="0">
              <a:lnSpc>
                <a:spcPct val="100000"/>
              </a:lnSpc>
              <a:buNone/>
            </a:pPr>
            <a:r>
              <a:rPr lang="en-US" sz="2800" b="1" dirty="0">
                <a:solidFill>
                  <a:srgbClr val="D3BDA6"/>
                </a:solidFill>
                <a:latin typeface="Times New Roman" panose="02020603050405020304" pitchFamily="18" charset="0"/>
                <a:ea typeface="MiSans" pitchFamily="34" charset="-122"/>
                <a:cs typeface="Times New Roman" panose="02020603050405020304" pitchFamily="18" charset="0"/>
              </a:rPr>
              <a:t>05</a:t>
            </a:r>
            <a:endParaRPr lang="en-US" sz="1600" dirty="0">
              <a:latin typeface="Times New Roman" panose="02020603050405020304" pitchFamily="18" charset="0"/>
              <a:cs typeface="Times New Roman" panose="02020603050405020304" pitchFamily="18" charset="0"/>
            </a:endParaRPr>
          </a:p>
        </p:txBody>
      </p:sp>
      <p:sp>
        <p:nvSpPr>
          <p:cNvPr id="17" name="Shape 14"/>
          <p:cNvSpPr/>
          <p:nvPr>
            <p:custDataLst>
              <p:tags r:id="rId15"/>
            </p:custDataLst>
          </p:nvPr>
        </p:nvSpPr>
        <p:spPr>
          <a:xfrm>
            <a:off x="5738189" y="4879163"/>
            <a:ext cx="5239624" cy="20433"/>
          </a:xfrm>
          <a:prstGeom prst="line">
            <a:avLst/>
          </a:prstGeom>
          <a:noFill/>
          <a:ln w="12700">
            <a:solidFill>
              <a:srgbClr val="D3BDA6"/>
            </a:solidFill>
            <a:prstDash val="solid"/>
            <a:headEnd type="none"/>
            <a:tailEnd type="none"/>
          </a:ln>
        </p:spPr>
      </p:sp>
      <p:sp>
        <p:nvSpPr>
          <p:cNvPr id="18" name="Text 15"/>
          <p:cNvSpPr/>
          <p:nvPr>
            <p:custDataLst>
              <p:tags r:id="rId16"/>
            </p:custDataLst>
          </p:nvPr>
        </p:nvSpPr>
        <p:spPr>
          <a:xfrm>
            <a:off x="6385126" y="5095978"/>
            <a:ext cx="4367961" cy="400110"/>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1A1A1A"/>
                </a:solidFill>
                <a:latin typeface="Times New Roman" panose="02020603050405020304" pitchFamily="18" charset="0"/>
                <a:ea typeface="MiSans" pitchFamily="34" charset="-122"/>
                <a:cs typeface="Times New Roman" panose="02020603050405020304" pitchFamily="18" charset="0"/>
              </a:rPr>
              <a:t>Thảo luận và phân tích</a:t>
            </a:r>
            <a:endParaRPr lang="en-US" sz="1600" dirty="0">
              <a:latin typeface="Times New Roman" panose="02020603050405020304" pitchFamily="18" charset="0"/>
              <a:cs typeface="Times New Roman" panose="02020603050405020304" pitchFamily="18" charset="0"/>
            </a:endParaRPr>
          </a:p>
        </p:txBody>
      </p:sp>
      <p:sp>
        <p:nvSpPr>
          <p:cNvPr id="19" name="Text 16"/>
          <p:cNvSpPr/>
          <p:nvPr>
            <p:custDataLst>
              <p:tags r:id="rId17"/>
            </p:custDataLst>
          </p:nvPr>
        </p:nvSpPr>
        <p:spPr>
          <a:xfrm>
            <a:off x="5676900" y="5046032"/>
            <a:ext cx="690634" cy="453495"/>
          </a:xfrm>
          <a:prstGeom prst="rect">
            <a:avLst/>
          </a:prstGeom>
          <a:noFill/>
        </p:spPr>
        <p:txBody>
          <a:bodyPr wrap="square" lIns="91440" tIns="45720" rIns="91440" bIns="45720" rtlCol="0" anchor="t"/>
          <a:lstStyle/>
          <a:p>
            <a:pPr marL="0" indent="0">
              <a:lnSpc>
                <a:spcPct val="100000"/>
              </a:lnSpc>
              <a:buNone/>
            </a:pPr>
            <a:r>
              <a:rPr lang="en-US" sz="2800" b="1" dirty="0">
                <a:solidFill>
                  <a:srgbClr val="D3BDA6"/>
                </a:solidFill>
                <a:latin typeface="Times New Roman" panose="02020603050405020304" pitchFamily="18" charset="0"/>
                <a:ea typeface="MiSans" pitchFamily="34" charset="-122"/>
                <a:cs typeface="Times New Roman" panose="02020603050405020304" pitchFamily="18" charset="0"/>
              </a:rPr>
              <a:t>06</a:t>
            </a:r>
            <a:endParaRPr lang="en-US" sz="1600" dirty="0">
              <a:latin typeface="Times New Roman" panose="02020603050405020304" pitchFamily="18" charset="0"/>
              <a:cs typeface="Times New Roman" panose="02020603050405020304" pitchFamily="18" charset="0"/>
            </a:endParaRPr>
          </a:p>
        </p:txBody>
      </p:sp>
      <p:sp>
        <p:nvSpPr>
          <p:cNvPr id="20" name="Shape 17"/>
          <p:cNvSpPr/>
          <p:nvPr>
            <p:custDataLst>
              <p:tags r:id="rId18"/>
            </p:custDataLst>
          </p:nvPr>
        </p:nvSpPr>
        <p:spPr>
          <a:xfrm>
            <a:off x="5738189" y="5651070"/>
            <a:ext cx="5239624" cy="20433"/>
          </a:xfrm>
          <a:prstGeom prst="line">
            <a:avLst/>
          </a:prstGeom>
          <a:noFill/>
          <a:ln w="12700">
            <a:solidFill>
              <a:srgbClr val="D3BDA6"/>
            </a:solidFill>
            <a:prstDash val="solid"/>
            <a:headEnd type="none"/>
            <a:tailEnd type="none"/>
          </a:ln>
        </p:spPr>
      </p:sp>
      <p:sp>
        <p:nvSpPr>
          <p:cNvPr id="21" name="Text 18"/>
          <p:cNvSpPr/>
          <p:nvPr/>
        </p:nvSpPr>
        <p:spPr>
          <a:xfrm>
            <a:off x="1827530" y="3183890"/>
            <a:ext cx="2230120" cy="646331"/>
          </a:xfrm>
          <a:prstGeom prst="rect">
            <a:avLst/>
          </a:prstGeom>
          <a:noFill/>
        </p:spPr>
        <p:txBody>
          <a:bodyPr wrap="square" lIns="91440" tIns="45720" rIns="91440" bIns="45720" rtlCol="0" anchor="t">
            <a:spAutoFit/>
          </a:bodyPr>
          <a:lstStyle/>
          <a:p>
            <a:pPr marL="0" indent="0">
              <a:lnSpc>
                <a:spcPct val="100000"/>
              </a:lnSpc>
              <a:buNone/>
            </a:pPr>
            <a:r>
              <a:rPr lang="en-US" sz="3600" b="1" dirty="0">
                <a:solidFill>
                  <a:srgbClr val="000000"/>
                </a:solidFill>
                <a:latin typeface="Times New Roman" panose="02020603050405020304" pitchFamily="18" charset="0"/>
                <a:ea typeface="MiSans" pitchFamily="34" charset="-122"/>
                <a:cs typeface="Times New Roman" panose="02020603050405020304" pitchFamily="18" charset="0"/>
              </a:rPr>
              <a:t>Phần</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3-d3ce46os8jdo4os5dcsg.png"/>
          <p:cNvPicPr>
            <a:picLocks noChangeAspect="1"/>
          </p:cNvPicPr>
          <p:nvPr/>
        </p:nvPicPr>
        <p:blipFill>
          <a:blip r:embed="rId3"/>
          <a:srcRect l="5" r="5"/>
          <a:stretch>
            <a:fillRect/>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p:spPr>
      </p:sp>
      <p:sp>
        <p:nvSpPr>
          <p:cNvPr id="4" name="Text 1"/>
          <p:cNvSpPr/>
          <p:nvPr/>
        </p:nvSpPr>
        <p:spPr>
          <a:xfrm>
            <a:off x="5172075" y="1997710"/>
            <a:ext cx="988695" cy="7607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5092065" y="2949575"/>
            <a:ext cx="6986905" cy="1015365"/>
          </a:xfrm>
          <a:prstGeom prst="rect">
            <a:avLst/>
          </a:prstGeom>
          <a:noFill/>
        </p:spPr>
        <p:txBody>
          <a:bodyPr wrap="square" lIns="91440" tIns="45720" rIns="91440" bIns="45720" rtlCol="0" anchor="t"/>
          <a:lstStyle/>
          <a:p>
            <a:pPr marL="0" indent="0">
              <a:lnSpc>
                <a:spcPct val="100000"/>
              </a:lnSpc>
              <a:buNone/>
            </a:pPr>
            <a:r>
              <a:rPr lang="en-US" sz="4000" b="1" dirty="0">
                <a:solidFill>
                  <a:srgbClr val="212931"/>
                </a:solidFill>
                <a:latin typeface="MiSans" pitchFamily="34" charset="-122"/>
                <a:ea typeface="MiSans" pitchFamily="34" charset="-122"/>
                <a:cs typeface="MiSans" pitchFamily="34" charset="-120"/>
              </a:rPr>
              <a:t>Giới thiệu Big Data</a:t>
            </a:r>
            <a:endParaRPr lang="en-US" sz="1600" dirty="0"/>
          </a:p>
        </p:txBody>
      </p:sp>
      <p:sp>
        <p:nvSpPr>
          <p:cNvPr id="6" name="Text 3"/>
          <p:cNvSpPr/>
          <p:nvPr/>
        </p:nvSpPr>
        <p:spPr>
          <a:xfrm>
            <a:off x="254000" y="2086610"/>
            <a:ext cx="3128010" cy="862965"/>
          </a:xfrm>
          <a:prstGeom prst="rect">
            <a:avLst/>
          </a:prstGeom>
          <a:noFill/>
        </p:spPr>
        <p:txBody>
          <a:bodyPr wrap="square" lIns="91440" tIns="45720" rIns="91440" bIns="45720" rtlCol="0" anchor="t"/>
          <a:lstStyle/>
          <a:p>
            <a:pPr marL="0" indent="0">
              <a:lnSpc>
                <a:spcPct val="100000"/>
              </a:lnSpc>
              <a:buNone/>
            </a:pPr>
            <a:r>
              <a:rPr lang="en-US" sz="16600" b="1" dirty="0">
                <a:solidFill>
                  <a:srgbClr val="FFFFFF"/>
                </a:solidFill>
                <a:latin typeface="MiSans" pitchFamily="34" charset="-122"/>
                <a:ea typeface="MiSans" pitchFamily="34" charset="-122"/>
                <a:cs typeface="MiSans"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p:spPr>
      </p:sp>
      <p:sp>
        <p:nvSpPr>
          <p:cNvPr id="5" name="Text 3"/>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p:spPr>
      </p:sp>
      <p:sp>
        <p:nvSpPr>
          <p:cNvPr id="7" name="Text 5"/>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p:spPr>
      </p:sp>
      <p:sp>
        <p:nvSpPr>
          <p:cNvPr id="9" name="Text 7"/>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p:spPr>
      </p:sp>
      <p:sp>
        <p:nvSpPr>
          <p:cNvPr id="11" name="Text 9"/>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p:spPr>
      </p:sp>
      <p:sp>
        <p:nvSpPr>
          <p:cNvPr id="13" name="Text 11"/>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p:spPr>
      </p:sp>
      <p:sp>
        <p:nvSpPr>
          <p:cNvPr id="15" name="Text 13"/>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Text 14"/>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Big Data là gì và tại sao cần thiết</a:t>
            </a:r>
            <a:endParaRPr lang="en-US" sz="1600" dirty="0"/>
          </a:p>
        </p:txBody>
      </p:sp>
      <p:sp>
        <p:nvSpPr>
          <p:cNvPr id="17"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p:spPr>
      </p:sp>
      <p:sp>
        <p:nvSpPr>
          <p:cNvPr id="18" name="Text 16"/>
          <p:cNvSpPr/>
          <p:nvPr/>
        </p:nvSpPr>
        <p:spPr>
          <a:xfrm>
            <a:off x="-16510" y="6572885"/>
            <a:ext cx="12221210" cy="2851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736600" y="1649730"/>
            <a:ext cx="4249420" cy="953135"/>
          </a:xfrm>
          <a:prstGeom prst="rect">
            <a:avLst/>
          </a:prstGeom>
          <a:noFill/>
        </p:spPr>
        <p:txBody>
          <a:bodyPr wrap="square" lIns="91440" tIns="45720" rIns="91440" bIns="45720" rtlCol="0" anchor="t">
            <a:spAutoFit/>
          </a:bodyPr>
          <a:lstStyle/>
          <a:p>
            <a:pPr marL="0" indent="0">
              <a:lnSpc>
                <a:spcPct val="100000"/>
              </a:lnSpc>
              <a:buNone/>
            </a:pPr>
            <a:r>
              <a:rPr lang="en-US" sz="2800" b="1" dirty="0">
                <a:solidFill>
                  <a:srgbClr val="D3BDA6"/>
                </a:solidFill>
                <a:latin typeface="MiSans" pitchFamily="34" charset="-122"/>
                <a:ea typeface="MiSans" pitchFamily="34" charset="-122"/>
                <a:cs typeface="MiSans" pitchFamily="34" charset="-120"/>
              </a:rPr>
              <a:t>Khái niệm Big Data</a:t>
            </a:r>
            <a:endParaRPr lang="en-US" sz="1600" dirty="0"/>
          </a:p>
        </p:txBody>
      </p:sp>
      <p:sp>
        <p:nvSpPr>
          <p:cNvPr id="20" name="Shape 18"/>
          <p:cNvSpPr/>
          <p:nvPr/>
        </p:nvSpPr>
        <p:spPr>
          <a:xfrm>
            <a:off x="864870" y="2615164"/>
            <a:ext cx="533125" cy="0"/>
          </a:xfrm>
          <a:prstGeom prst="line">
            <a:avLst/>
          </a:prstGeom>
          <a:noFill/>
          <a:ln w="25400">
            <a:solidFill>
              <a:srgbClr val="DBB479"/>
            </a:solidFill>
            <a:prstDash val="solid"/>
            <a:headEnd type="none"/>
            <a:tailEnd type="none"/>
          </a:ln>
        </p:spPr>
      </p:sp>
      <p:sp>
        <p:nvSpPr>
          <p:cNvPr id="21" name="Text 19"/>
          <p:cNvSpPr/>
          <p:nvPr/>
        </p:nvSpPr>
        <p:spPr>
          <a:xfrm>
            <a:off x="736600" y="2667635"/>
            <a:ext cx="4282440" cy="1487805"/>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Big Data là khối lượng dữ liệu lớn, đa dạng và tốc độ thay đổi nhanh chóng, đòi hỏi phương thức xử lý mới. Nó được đặc trưng bởi 3V: Volume (độ lớn), Variety (đa dạng) và Velocity (tốc độ).</a:t>
            </a:r>
            <a:endParaRPr lang="en-US" sz="1600" dirty="0"/>
          </a:p>
        </p:txBody>
      </p:sp>
      <p:pic>
        <p:nvPicPr>
          <p:cNvPr id="22" name="Image 0" descr="https://kimi-img.moonshot.cn/pub/slides/slides_tmpl/image/25-09-28-15:22:09-d3ce488s8jdo4os5dd6g.png"/>
          <p:cNvPicPr>
            <a:picLocks noChangeAspect="1"/>
          </p:cNvPicPr>
          <p:nvPr/>
        </p:nvPicPr>
        <p:blipFill>
          <a:blip r:embed="rId3"/>
          <a:srcRect t="46" b="46"/>
          <a:stretch>
            <a:fillRect/>
          </a:stretch>
        </p:blipFill>
        <p:spPr>
          <a:xfrm>
            <a:off x="779145" y="4210050"/>
            <a:ext cx="4140200" cy="1867535"/>
          </a:xfrm>
          <a:prstGeom prst="rect">
            <a:avLst/>
          </a:prstGeom>
        </p:spPr>
      </p:pic>
      <p:sp>
        <p:nvSpPr>
          <p:cNvPr id="23" name="Shape 20"/>
          <p:cNvSpPr/>
          <p:nvPr/>
        </p:nvSpPr>
        <p:spPr>
          <a:xfrm>
            <a:off x="5326380" y="1670685"/>
            <a:ext cx="2895600" cy="4476750"/>
          </a:xfrm>
          <a:prstGeom prst="roundRect">
            <a:avLst>
              <a:gd name="adj" fmla="val 4166"/>
            </a:avLst>
          </a:prstGeom>
          <a:solidFill>
            <a:srgbClr val="000000">
              <a:alpha val="0"/>
            </a:srgbClr>
          </a:solidFill>
          <a:ln w="19050">
            <a:solidFill>
              <a:srgbClr val="D3BDA6"/>
            </a:solidFill>
            <a:prstDash val="solid"/>
          </a:ln>
        </p:spPr>
      </p:sp>
      <p:sp>
        <p:nvSpPr>
          <p:cNvPr id="24" name="Text 21"/>
          <p:cNvSpPr/>
          <p:nvPr/>
        </p:nvSpPr>
        <p:spPr>
          <a:xfrm>
            <a:off x="5326380" y="1670685"/>
            <a:ext cx="2895600" cy="447675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2"/>
          <p:cNvSpPr/>
          <p:nvPr/>
        </p:nvSpPr>
        <p:spPr>
          <a:xfrm>
            <a:off x="5326380" y="1778000"/>
            <a:ext cx="2895600" cy="419735"/>
          </a:xfrm>
          <a:prstGeom prst="roundRect">
            <a:avLst>
              <a:gd name="adj" fmla="val 4166"/>
            </a:avLst>
          </a:prstGeom>
          <a:solidFill>
            <a:srgbClr val="D3BDA6"/>
          </a:solidFill>
          <a:ln w="19050">
            <a:solidFill>
              <a:srgbClr val="D3BDA6"/>
            </a:solidFill>
            <a:prstDash val="solid"/>
          </a:ln>
        </p:spPr>
      </p:sp>
      <p:sp>
        <p:nvSpPr>
          <p:cNvPr id="26" name="Text 23"/>
          <p:cNvSpPr/>
          <p:nvPr/>
        </p:nvSpPr>
        <p:spPr>
          <a:xfrm>
            <a:off x="5326380" y="1778000"/>
            <a:ext cx="2895600" cy="4197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Text 24"/>
          <p:cNvSpPr/>
          <p:nvPr/>
        </p:nvSpPr>
        <p:spPr>
          <a:xfrm>
            <a:off x="5518150" y="2487930"/>
            <a:ext cx="2540577" cy="706755"/>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MiSans" pitchFamily="34" charset="-122"/>
                <a:ea typeface="MiSans" pitchFamily="34" charset="-122"/>
                <a:cs typeface="MiSans" pitchFamily="34" charset="-120"/>
              </a:rPr>
              <a:t>Tầm quan trọng của Big Data</a:t>
            </a:r>
            <a:endParaRPr lang="en-US" sz="1600" dirty="0"/>
          </a:p>
        </p:txBody>
      </p:sp>
      <p:sp>
        <p:nvSpPr>
          <p:cNvPr id="28" name="Text 25"/>
          <p:cNvSpPr/>
          <p:nvPr/>
        </p:nvSpPr>
        <p:spPr>
          <a:xfrm>
            <a:off x="5518150" y="3251835"/>
            <a:ext cx="2541270" cy="228092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Big Data giúp doanh nghiệp ra quyết định chính xác hơn, khám phá xu hướng thị trường và tối ưu hóa hoạt động. Ví dụ, các ngân hàng Việt Nam đã chi tới 32.437 tỉ đồng cho công nghệ vào năm 2024 để quản lý dữ liệu lớn.</a:t>
            </a:r>
            <a:endParaRPr lang="en-US" sz="1600" dirty="0"/>
          </a:p>
        </p:txBody>
      </p:sp>
      <p:sp>
        <p:nvSpPr>
          <p:cNvPr id="29" name="Shape 26"/>
          <p:cNvSpPr/>
          <p:nvPr/>
        </p:nvSpPr>
        <p:spPr>
          <a:xfrm>
            <a:off x="8399780" y="1670685"/>
            <a:ext cx="2895600" cy="4476750"/>
          </a:xfrm>
          <a:prstGeom prst="roundRect">
            <a:avLst>
              <a:gd name="adj" fmla="val 4166"/>
            </a:avLst>
          </a:prstGeom>
          <a:solidFill>
            <a:srgbClr val="000000">
              <a:alpha val="0"/>
            </a:srgbClr>
          </a:solidFill>
          <a:ln w="19050">
            <a:solidFill>
              <a:srgbClr val="D3BDA6"/>
            </a:solidFill>
            <a:prstDash val="solid"/>
          </a:ln>
        </p:spPr>
      </p:sp>
      <p:sp>
        <p:nvSpPr>
          <p:cNvPr id="30" name="Text 27"/>
          <p:cNvSpPr/>
          <p:nvPr/>
        </p:nvSpPr>
        <p:spPr>
          <a:xfrm>
            <a:off x="8399780" y="1670685"/>
            <a:ext cx="2895600" cy="447675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8"/>
          <p:cNvSpPr/>
          <p:nvPr/>
        </p:nvSpPr>
        <p:spPr>
          <a:xfrm>
            <a:off x="8399780" y="1778000"/>
            <a:ext cx="2895600" cy="419735"/>
          </a:xfrm>
          <a:prstGeom prst="roundRect">
            <a:avLst>
              <a:gd name="adj" fmla="val 4166"/>
            </a:avLst>
          </a:prstGeom>
          <a:solidFill>
            <a:srgbClr val="D3BDA6"/>
          </a:solidFill>
          <a:ln w="19050">
            <a:solidFill>
              <a:srgbClr val="D3BDA6"/>
            </a:solidFill>
            <a:prstDash val="solid"/>
          </a:ln>
        </p:spPr>
      </p:sp>
      <p:sp>
        <p:nvSpPr>
          <p:cNvPr id="32" name="Text 29"/>
          <p:cNvSpPr/>
          <p:nvPr/>
        </p:nvSpPr>
        <p:spPr>
          <a:xfrm>
            <a:off x="8399780" y="1778000"/>
            <a:ext cx="2895600" cy="4197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0"/>
          <p:cNvSpPr/>
          <p:nvPr/>
        </p:nvSpPr>
        <p:spPr>
          <a:xfrm>
            <a:off x="8591550" y="2487930"/>
            <a:ext cx="2540577" cy="706755"/>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MiSans" pitchFamily="34" charset="-122"/>
                <a:ea typeface="MiSans" pitchFamily="34" charset="-122"/>
                <a:cs typeface="MiSans" pitchFamily="34" charset="-120"/>
              </a:rPr>
              <a:t>Ứng dụng thực tế</a:t>
            </a:r>
            <a:endParaRPr lang="en-US" sz="1600" dirty="0"/>
          </a:p>
        </p:txBody>
      </p:sp>
      <p:sp>
        <p:nvSpPr>
          <p:cNvPr id="34" name="Text 31"/>
          <p:cNvSpPr/>
          <p:nvPr/>
        </p:nvSpPr>
        <p:spPr>
          <a:xfrm>
            <a:off x="8591550" y="3251835"/>
            <a:ext cx="2541270" cy="260604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Big Data được ứng dụng trong nhiều lĩnh vực như tài chính, y tế, bán lẻ và sản xuất. Nó giúp doanh nghiệp hiểu rõ hơn về khách hàng và thị trường, từ đó tạo ra lợi thế cạnh tranh.</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p:spPr>
      </p:sp>
      <p:sp>
        <p:nvSpPr>
          <p:cNvPr id="5" name="Text 3"/>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p:spPr>
      </p:sp>
      <p:sp>
        <p:nvSpPr>
          <p:cNvPr id="7" name="Text 5"/>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p:spPr>
      </p:sp>
      <p:sp>
        <p:nvSpPr>
          <p:cNvPr id="9" name="Text 7"/>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p:spPr>
      </p:sp>
      <p:sp>
        <p:nvSpPr>
          <p:cNvPr id="11" name="Text 9"/>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p:spPr>
      </p:sp>
      <p:sp>
        <p:nvSpPr>
          <p:cNvPr id="13" name="Text 11"/>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p:spPr>
      </p:sp>
      <p:sp>
        <p:nvSpPr>
          <p:cNvPr id="15" name="Text 13"/>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Text 14"/>
          <p:cNvSpPr/>
          <p:nvPr/>
        </p:nvSpPr>
        <p:spPr>
          <a:xfrm>
            <a:off x="667385" y="524510"/>
            <a:ext cx="70980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Thách thức khi triển khai Big Data</a:t>
            </a:r>
            <a:endParaRPr lang="en-US" sz="1600" dirty="0"/>
          </a:p>
        </p:txBody>
      </p:sp>
      <p:sp>
        <p:nvSpPr>
          <p:cNvPr id="17"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p:spPr>
      </p:sp>
      <p:sp>
        <p:nvSpPr>
          <p:cNvPr id="18" name="Text 16"/>
          <p:cNvSpPr/>
          <p:nvPr/>
        </p:nvSpPr>
        <p:spPr>
          <a:xfrm>
            <a:off x="-16510" y="6572885"/>
            <a:ext cx="12221210" cy="2851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3838575" y="1654810"/>
            <a:ext cx="7715250" cy="460375"/>
          </a:xfrm>
          <a:prstGeom prst="rect">
            <a:avLst/>
          </a:prstGeom>
          <a:noFill/>
        </p:spPr>
        <p:txBody>
          <a:bodyPr wrap="square" lIns="91440" tIns="45720" rIns="91440" bIns="45720" rtlCol="0" anchor="t">
            <a:spAutoFit/>
          </a:bodyPr>
          <a:lstStyle/>
          <a:p>
            <a:pPr marL="0" indent="0">
              <a:lnSpc>
                <a:spcPct val="100000"/>
              </a:lnSpc>
              <a:buNone/>
            </a:pPr>
            <a:r>
              <a:rPr lang="en-US" sz="2400" b="1" dirty="0">
                <a:solidFill>
                  <a:srgbClr val="000000"/>
                </a:solidFill>
                <a:latin typeface="MiSans" pitchFamily="34" charset="-122"/>
                <a:ea typeface="MiSans" pitchFamily="34" charset="-122"/>
                <a:cs typeface="MiSans" pitchFamily="34" charset="-120"/>
              </a:rPr>
              <a:t>Thách thức về bảo mật và nhân lực</a:t>
            </a:r>
            <a:endParaRPr lang="en-US" sz="1600" dirty="0"/>
          </a:p>
        </p:txBody>
      </p:sp>
      <p:sp>
        <p:nvSpPr>
          <p:cNvPr id="20" name="Text 18"/>
          <p:cNvSpPr/>
          <p:nvPr/>
        </p:nvSpPr>
        <p:spPr>
          <a:xfrm>
            <a:off x="3838575" y="2122170"/>
            <a:ext cx="7715250" cy="1370965"/>
          </a:xfrm>
          <a:prstGeom prst="rect">
            <a:avLst/>
          </a:prstGeom>
          <a:noFill/>
        </p:spPr>
        <p:txBody>
          <a:bodyPr wrap="square" lIns="91440" tIns="45720" rIns="91440" bIns="45720" rtlCol="0" anchor="t">
            <a:spAutoFit/>
          </a:bodyPr>
          <a:lstStyle/>
          <a:p>
            <a:pPr marL="0" indent="0">
              <a:lnSpc>
                <a:spcPct val="130000"/>
              </a:lnSpc>
              <a:buNone/>
            </a:pPr>
            <a:r>
              <a:rPr lang="en-US" sz="1600" dirty="0">
                <a:solidFill>
                  <a:srgbClr val="000000"/>
                </a:solidFill>
                <a:latin typeface="MiSans" pitchFamily="34" charset="-122"/>
                <a:ea typeface="MiSans" pitchFamily="34" charset="-122"/>
                <a:cs typeface="MiSans" pitchFamily="34" charset="-120"/>
              </a:rPr>
              <a:t>Bảo mật dữ liệu cá nhân và tuân thủ quy định là thách thức lớn. Ngoài ra, thiếu hụt nhân lực chuyên gia dữ liệu và kỹ sư AI cũng là vấn đề cần giải quyết khi triển khai Big Data.</a:t>
            </a:r>
            <a:endParaRPr lang="en-US" sz="1600" dirty="0"/>
          </a:p>
        </p:txBody>
      </p:sp>
      <p:sp>
        <p:nvSpPr>
          <p:cNvPr id="21" name="Shape 19"/>
          <p:cNvSpPr/>
          <p:nvPr/>
        </p:nvSpPr>
        <p:spPr>
          <a:xfrm>
            <a:off x="668655" y="1533525"/>
            <a:ext cx="3020695" cy="4250690"/>
          </a:xfrm>
          <a:prstGeom prst="roundRect">
            <a:avLst>
              <a:gd name="adj" fmla="val 3466"/>
            </a:avLst>
          </a:prstGeom>
          <a:gradFill flip="none" rotWithShape="1">
            <a:gsLst>
              <a:gs pos="0">
                <a:srgbClr val="D3BDA6"/>
              </a:gs>
              <a:gs pos="100000">
                <a:srgbClr val="BFA492"/>
              </a:gs>
            </a:gsLst>
            <a:lin ang="2700000" scaled="1"/>
          </a:gradFill>
          <a:ln w="19050">
            <a:solidFill>
              <a:srgbClr val="D3BDA6"/>
            </a:solidFill>
            <a:prstDash val="solid"/>
          </a:ln>
        </p:spPr>
      </p:sp>
      <p:sp>
        <p:nvSpPr>
          <p:cNvPr id="22" name="Text 20"/>
          <p:cNvSpPr/>
          <p:nvPr/>
        </p:nvSpPr>
        <p:spPr>
          <a:xfrm>
            <a:off x="668655" y="1533525"/>
            <a:ext cx="3020695" cy="42506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1"/>
          <p:cNvSpPr/>
          <p:nvPr/>
        </p:nvSpPr>
        <p:spPr>
          <a:xfrm>
            <a:off x="775335" y="1842135"/>
            <a:ext cx="2807970" cy="706755"/>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FFFFFF"/>
                </a:solidFill>
                <a:latin typeface="MiSans" pitchFamily="34" charset="-122"/>
                <a:ea typeface="MiSans" pitchFamily="34" charset="-122"/>
                <a:cs typeface="MiSans" pitchFamily="34" charset="-120"/>
              </a:rPr>
              <a:t>Thách thức về hạ tầng và chi phí</a:t>
            </a:r>
            <a:endParaRPr lang="en-US" sz="1600" dirty="0"/>
          </a:p>
        </p:txBody>
      </p:sp>
      <p:sp>
        <p:nvSpPr>
          <p:cNvPr id="24" name="Text 22"/>
          <p:cNvSpPr/>
          <p:nvPr/>
        </p:nvSpPr>
        <p:spPr>
          <a:xfrm>
            <a:off x="775335" y="2614295"/>
            <a:ext cx="2807970" cy="2971165"/>
          </a:xfrm>
          <a:prstGeom prst="rect">
            <a:avLst/>
          </a:prstGeom>
          <a:noFill/>
        </p:spPr>
        <p:txBody>
          <a:bodyPr wrap="square" lIns="91440" tIns="45720" rIns="91440" bIns="45720" rtlCol="0" anchor="t">
            <a:spAutoFit/>
          </a:bodyPr>
          <a:lstStyle/>
          <a:p>
            <a:pPr marL="0" indent="0">
              <a:lnSpc>
                <a:spcPct val="130000"/>
              </a:lnSpc>
              <a:buNone/>
            </a:pPr>
            <a:r>
              <a:rPr lang="en-US" sz="1600" dirty="0">
                <a:solidFill>
                  <a:srgbClr val="FFFFFF"/>
                </a:solidFill>
                <a:latin typeface="MiSans" pitchFamily="34" charset="-122"/>
                <a:ea typeface="MiSans" pitchFamily="34" charset="-122"/>
                <a:cs typeface="MiSans" pitchFamily="34" charset="-120"/>
              </a:rPr>
              <a:t>Triển khai Big Data đòi hỏi hệ thống máy chủ mạnh mẽ và chi phí đầu tư lớn. Các ngân hàng nhỏ và vừa gặp khó khăn về vốn, dẫn tới khả năng triển khai hạn chế và phụ thuộc vào giải pháp thuê ngoài như cloud.</a:t>
            </a:r>
            <a:endParaRPr lang="en-US" sz="1600" dirty="0"/>
          </a:p>
        </p:txBody>
      </p:sp>
      <p:pic>
        <p:nvPicPr>
          <p:cNvPr id="25" name="Image 0" descr="https://kimi-img.moonshot.cn/pub/slides/slides_tmpl/image/25-09-28-15:22:08-d3ce480s8jdo4os5dd2g.png"/>
          <p:cNvPicPr>
            <a:picLocks noChangeAspect="1"/>
          </p:cNvPicPr>
          <p:nvPr/>
        </p:nvPicPr>
        <p:blipFill>
          <a:blip r:embed="rId3"/>
          <a:srcRect t="139" b="139"/>
          <a:stretch>
            <a:fillRect/>
          </a:stretch>
        </p:blipFill>
        <p:spPr>
          <a:xfrm>
            <a:off x="3930650" y="3438525"/>
            <a:ext cx="7605395" cy="228600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3-d3ce46os8jdo4os5dcsg.png"/>
          <p:cNvPicPr>
            <a:picLocks noChangeAspect="1"/>
          </p:cNvPicPr>
          <p:nvPr/>
        </p:nvPicPr>
        <p:blipFill>
          <a:blip r:embed="rId3"/>
          <a:srcRect l="5" r="5"/>
          <a:stretch>
            <a:fillRect/>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p:spPr>
      </p:sp>
      <p:sp>
        <p:nvSpPr>
          <p:cNvPr id="4" name="Text 1"/>
          <p:cNvSpPr/>
          <p:nvPr/>
        </p:nvSpPr>
        <p:spPr>
          <a:xfrm>
            <a:off x="5172075" y="1997710"/>
            <a:ext cx="988695" cy="7607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5092065" y="2949575"/>
            <a:ext cx="6986905" cy="1015365"/>
          </a:xfrm>
          <a:prstGeom prst="rect">
            <a:avLst/>
          </a:prstGeom>
          <a:noFill/>
        </p:spPr>
        <p:txBody>
          <a:bodyPr wrap="square" lIns="91440" tIns="45720" rIns="91440" bIns="45720" rtlCol="0" anchor="t"/>
          <a:lstStyle/>
          <a:p>
            <a:pPr marL="0" indent="0">
              <a:lnSpc>
                <a:spcPct val="100000"/>
              </a:lnSpc>
              <a:buNone/>
            </a:pPr>
            <a:r>
              <a:rPr lang="en-US" sz="4000" b="1" dirty="0">
                <a:solidFill>
                  <a:srgbClr val="212931"/>
                </a:solidFill>
                <a:latin typeface="MiSans" pitchFamily="34" charset="-122"/>
                <a:ea typeface="MiSans" pitchFamily="34" charset="-122"/>
                <a:cs typeface="MiSans" pitchFamily="34" charset="-120"/>
              </a:rPr>
              <a:t>Elasticsearch cơ bản</a:t>
            </a:r>
            <a:endParaRPr lang="en-US" sz="1600" dirty="0"/>
          </a:p>
        </p:txBody>
      </p:sp>
      <p:sp>
        <p:nvSpPr>
          <p:cNvPr id="6" name="Text 3"/>
          <p:cNvSpPr/>
          <p:nvPr/>
        </p:nvSpPr>
        <p:spPr>
          <a:xfrm>
            <a:off x="254000" y="2086610"/>
            <a:ext cx="3128010" cy="862965"/>
          </a:xfrm>
          <a:prstGeom prst="rect">
            <a:avLst/>
          </a:prstGeom>
          <a:noFill/>
        </p:spPr>
        <p:txBody>
          <a:bodyPr wrap="square" lIns="91440" tIns="45720" rIns="91440" bIns="45720" rtlCol="0" anchor="t"/>
          <a:lstStyle/>
          <a:p>
            <a:pPr marL="0" indent="0">
              <a:lnSpc>
                <a:spcPct val="100000"/>
              </a:lnSpc>
              <a:buNone/>
            </a:pPr>
            <a:r>
              <a:rPr lang="en-US" sz="16600" b="1" dirty="0">
                <a:solidFill>
                  <a:srgbClr val="FFFFFF"/>
                </a:solidFill>
                <a:latin typeface="MiSans" pitchFamily="34" charset="-122"/>
                <a:ea typeface="MiSans" pitchFamily="34" charset="-122"/>
                <a:cs typeface="MiSans" pitchFamily="34" charset="-120"/>
              </a:rPr>
              <a:t>02</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0" y="5408732"/>
            <a:ext cx="12192000" cy="1449268"/>
          </a:xfrm>
          <a:prstGeom prst="rect">
            <a:avLst/>
          </a:prstGeom>
          <a:solidFill>
            <a:srgbClr val="D3BDA6"/>
          </a:solidFill>
        </p:spPr>
      </p:sp>
      <p:sp>
        <p:nvSpPr>
          <p:cNvPr id="5" name="Text 3"/>
          <p:cNvSpPr/>
          <p:nvPr/>
        </p:nvSpPr>
        <p:spPr>
          <a:xfrm>
            <a:off x="0" y="5408732"/>
            <a:ext cx="12192000" cy="144926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Text 4"/>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Elasticsearch và đặc điểm nổi bật</a:t>
            </a:r>
            <a:endParaRPr lang="en-US" sz="1600" dirty="0"/>
          </a:p>
        </p:txBody>
      </p:sp>
      <p:sp>
        <p:nvSpPr>
          <p:cNvPr id="7" name="Text 5"/>
          <p:cNvSpPr/>
          <p:nvPr/>
        </p:nvSpPr>
        <p:spPr>
          <a:xfrm>
            <a:off x="524510" y="5956300"/>
            <a:ext cx="10777220" cy="64897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FFFFFF"/>
                </a:solidFill>
                <a:latin typeface="MiSans" pitchFamily="34" charset="-122"/>
                <a:ea typeface="MiSans" pitchFamily="34" charset="-122"/>
                <a:cs typeface="MiSans" pitchFamily="34" charset="-120"/>
              </a:rPr>
              <a:t>Elasticsearch có hệ sinh thái gồm Logstash, Kibana và Beats, giúp thu thập, xử lý, lưu trữ và trực quan hóa dữ liệu một cách hiệu quả.</a:t>
            </a:r>
            <a:endParaRPr lang="en-US" sz="1600" dirty="0"/>
          </a:p>
        </p:txBody>
      </p:sp>
      <p:sp>
        <p:nvSpPr>
          <p:cNvPr id="8" name="Text 6"/>
          <p:cNvSpPr/>
          <p:nvPr/>
        </p:nvSpPr>
        <p:spPr>
          <a:xfrm>
            <a:off x="524510" y="5588000"/>
            <a:ext cx="10778400" cy="36830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FFFFFF"/>
                </a:solidFill>
                <a:latin typeface="MiSans" pitchFamily="34" charset="-122"/>
                <a:ea typeface="MiSans" pitchFamily="34" charset="-122"/>
                <a:cs typeface="MiSans" pitchFamily="34" charset="-120"/>
              </a:rPr>
              <a:t>Hệ sinh thái mạnh mẽ</a:t>
            </a:r>
            <a:endParaRPr lang="en-US" sz="1600" dirty="0"/>
          </a:p>
        </p:txBody>
      </p:sp>
      <p:sp>
        <p:nvSpPr>
          <p:cNvPr id="9" name="Shape 7"/>
          <p:cNvSpPr/>
          <p:nvPr/>
        </p:nvSpPr>
        <p:spPr>
          <a:xfrm>
            <a:off x="10896829" y="5250611"/>
            <a:ext cx="600063" cy="170384"/>
          </a:xfrm>
          <a:custGeom>
            <a:avLst/>
            <a:gdLst/>
            <a:ahLst/>
            <a:cxnLst/>
            <a:rect l="l" t="t" r="r" b="b"/>
            <a:pathLst>
              <a:path w="600063" h="170384">
                <a:moveTo>
                  <a:pt x="564775" y="170384"/>
                </a:moveTo>
                <a:lnTo>
                  <a:pt x="0" y="0"/>
                </a:lnTo>
                <a:lnTo>
                  <a:pt x="600063" y="57425"/>
                </a:lnTo>
                <a:close/>
              </a:path>
            </a:pathLst>
          </a:custGeom>
          <a:solidFill>
            <a:srgbClr val="000000">
              <a:alpha val="25882"/>
            </a:srgbClr>
          </a:solidFill>
        </p:spPr>
      </p:sp>
      <p:sp>
        <p:nvSpPr>
          <p:cNvPr id="10" name="Text 8"/>
          <p:cNvSpPr/>
          <p:nvPr/>
        </p:nvSpPr>
        <p:spPr>
          <a:xfrm>
            <a:off x="10896829" y="5250611"/>
            <a:ext cx="600063" cy="170384"/>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8726805" y="4398690"/>
            <a:ext cx="897019" cy="626162"/>
          </a:xfrm>
          <a:custGeom>
            <a:avLst/>
            <a:gdLst/>
            <a:ahLst/>
            <a:cxnLst/>
            <a:rect l="l" t="t" r="r" b="b"/>
            <a:pathLst>
              <a:path w="897019" h="626162">
                <a:moveTo>
                  <a:pt x="143299" y="0"/>
                </a:moveTo>
                <a:cubicBezTo>
                  <a:pt x="96900" y="165530"/>
                  <a:pt x="50502" y="331037"/>
                  <a:pt x="4102" y="496567"/>
                </a:cubicBezTo>
                <a:cubicBezTo>
                  <a:pt x="3501" y="497681"/>
                  <a:pt x="-4763" y="513744"/>
                  <a:pt x="4014" y="529272"/>
                </a:cubicBezTo>
                <a:cubicBezTo>
                  <a:pt x="10407" y="540590"/>
                  <a:pt x="21544" y="544065"/>
                  <a:pt x="23994" y="544756"/>
                </a:cubicBezTo>
                <a:cubicBezTo>
                  <a:pt x="314995" y="571891"/>
                  <a:pt x="606018" y="599026"/>
                  <a:pt x="897019" y="626162"/>
                </a:cubicBezTo>
                <a:cubicBezTo>
                  <a:pt x="645778" y="417456"/>
                  <a:pt x="394539" y="208728"/>
                  <a:pt x="143299" y="0"/>
                </a:cubicBezTo>
                <a:close/>
              </a:path>
            </a:pathLst>
          </a:custGeom>
          <a:solidFill>
            <a:srgbClr val="000000">
              <a:alpha val="25882"/>
            </a:srgbClr>
          </a:solidFill>
        </p:spPr>
      </p:sp>
      <p:sp>
        <p:nvSpPr>
          <p:cNvPr id="12" name="Text 10"/>
          <p:cNvSpPr/>
          <p:nvPr/>
        </p:nvSpPr>
        <p:spPr>
          <a:xfrm>
            <a:off x="8726805" y="4398690"/>
            <a:ext cx="897019" cy="626162"/>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9085518" y="1893570"/>
            <a:ext cx="242297" cy="1297523"/>
          </a:xfrm>
          <a:custGeom>
            <a:avLst/>
            <a:gdLst/>
            <a:ahLst/>
            <a:cxnLst/>
            <a:rect l="l" t="t" r="r" b="b"/>
            <a:pathLst>
              <a:path w="242297" h="1297523">
                <a:moveTo>
                  <a:pt x="242297" y="0"/>
                </a:moveTo>
                <a:cubicBezTo>
                  <a:pt x="217912" y="8489"/>
                  <a:pt x="193348" y="31193"/>
                  <a:pt x="176217" y="44137"/>
                </a:cubicBezTo>
                <a:cubicBezTo>
                  <a:pt x="163823" y="89768"/>
                  <a:pt x="151430" y="135398"/>
                  <a:pt x="139037" y="181029"/>
                </a:cubicBezTo>
                <a:cubicBezTo>
                  <a:pt x="131228" y="228998"/>
                  <a:pt x="119592" y="303282"/>
                  <a:pt x="107198" y="394697"/>
                </a:cubicBezTo>
                <a:cubicBezTo>
                  <a:pt x="94159" y="490883"/>
                  <a:pt x="90355" y="531655"/>
                  <a:pt x="77095" y="640117"/>
                </a:cubicBezTo>
                <a:cubicBezTo>
                  <a:pt x="56179" y="811319"/>
                  <a:pt x="50751" y="824532"/>
                  <a:pt x="34531" y="963072"/>
                </a:cubicBezTo>
                <a:cubicBezTo>
                  <a:pt x="21026" y="1078528"/>
                  <a:pt x="-6452" y="1296208"/>
                  <a:pt x="1379" y="1297523"/>
                </a:cubicBezTo>
                <a:cubicBezTo>
                  <a:pt x="10057" y="1298993"/>
                  <a:pt x="58873" y="1015275"/>
                  <a:pt x="242297" y="0"/>
                </a:cubicBezTo>
                <a:close/>
              </a:path>
            </a:pathLst>
          </a:custGeom>
          <a:solidFill>
            <a:srgbClr val="000000">
              <a:alpha val="25882"/>
            </a:srgbClr>
          </a:solidFill>
        </p:spPr>
      </p:sp>
      <p:sp>
        <p:nvSpPr>
          <p:cNvPr id="14" name="Text 12"/>
          <p:cNvSpPr/>
          <p:nvPr/>
        </p:nvSpPr>
        <p:spPr>
          <a:xfrm>
            <a:off x="9085518" y="1893570"/>
            <a:ext cx="242297" cy="1297523"/>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8783593" y="1894280"/>
            <a:ext cx="3283312" cy="3467791"/>
          </a:xfrm>
          <a:custGeom>
            <a:avLst/>
            <a:gdLst/>
            <a:ahLst/>
            <a:cxnLst/>
            <a:rect l="l" t="t" r="r" b="b"/>
            <a:pathLst>
              <a:path w="3283312" h="3467791">
                <a:moveTo>
                  <a:pt x="541948" y="0"/>
                </a:moveTo>
                <a:lnTo>
                  <a:pt x="3283312" y="486670"/>
                </a:lnTo>
                <a:lnTo>
                  <a:pt x="2753583" y="3440474"/>
                </a:lnTo>
                <a:lnTo>
                  <a:pt x="2752864" y="3440474"/>
                </a:lnTo>
                <a:lnTo>
                  <a:pt x="2751427" y="3446225"/>
                </a:lnTo>
                <a:lnTo>
                  <a:pt x="2749270" y="3445506"/>
                </a:lnTo>
                <a:lnTo>
                  <a:pt x="2748552" y="3451976"/>
                </a:lnTo>
                <a:lnTo>
                  <a:pt x="2747833" y="3451976"/>
                </a:lnTo>
                <a:lnTo>
                  <a:pt x="2746395" y="3457726"/>
                </a:lnTo>
                <a:lnTo>
                  <a:pt x="2744958" y="3457726"/>
                </a:lnTo>
                <a:lnTo>
                  <a:pt x="2744239" y="3462759"/>
                </a:lnTo>
                <a:lnTo>
                  <a:pt x="2742083" y="3462040"/>
                </a:lnTo>
                <a:lnTo>
                  <a:pt x="2740645" y="3467791"/>
                </a:lnTo>
                <a:lnTo>
                  <a:pt x="0" y="2981121"/>
                </a:lnTo>
                <a:lnTo>
                  <a:pt x="531885" y="17253"/>
                </a:lnTo>
                <a:lnTo>
                  <a:pt x="533323" y="17253"/>
                </a:lnTo>
                <a:lnTo>
                  <a:pt x="534041" y="14377"/>
                </a:lnTo>
                <a:lnTo>
                  <a:pt x="535479" y="14377"/>
                </a:lnTo>
                <a:lnTo>
                  <a:pt x="536198" y="10783"/>
                </a:lnTo>
                <a:lnTo>
                  <a:pt x="536916" y="10783"/>
                </a:lnTo>
                <a:lnTo>
                  <a:pt x="537635" y="7189"/>
                </a:lnTo>
                <a:lnTo>
                  <a:pt x="539791" y="7189"/>
                </a:lnTo>
                <a:lnTo>
                  <a:pt x="540510" y="3594"/>
                </a:lnTo>
                <a:lnTo>
                  <a:pt x="541229" y="3594"/>
                </a:lnTo>
                <a:lnTo>
                  <a:pt x="541948" y="0"/>
                </a:lnTo>
                <a:close/>
              </a:path>
            </a:pathLst>
          </a:custGeom>
          <a:gradFill flip="none" rotWithShape="1">
            <a:gsLst>
              <a:gs pos="0">
                <a:srgbClr val="FFFFFF"/>
              </a:gs>
              <a:gs pos="25000">
                <a:srgbClr val="FBFBFB"/>
              </a:gs>
              <a:gs pos="51000">
                <a:srgbClr val="EFEFEF"/>
              </a:gs>
              <a:gs pos="76000">
                <a:srgbClr val="EAEAEA"/>
              </a:gs>
              <a:gs pos="100000">
                <a:srgbClr val="DEDEDE"/>
              </a:gs>
            </a:gsLst>
            <a:lin ang="2940000" scaled="1"/>
          </a:gradFill>
          <a:ln w="6350">
            <a:solidFill>
              <a:srgbClr val="EAEAEA"/>
            </a:solidFill>
            <a:prstDash val="solid"/>
          </a:ln>
        </p:spPr>
      </p:sp>
      <p:sp>
        <p:nvSpPr>
          <p:cNvPr id="16" name="Text 14"/>
          <p:cNvSpPr/>
          <p:nvPr/>
        </p:nvSpPr>
        <p:spPr>
          <a:xfrm>
            <a:off x="8783593" y="1894280"/>
            <a:ext cx="3283312" cy="346779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7" name="Image 0" descr="https://kimi-img.moonshot.cn/pub/slides/slides_tmpl/image/25-09-28-15:22:12-d3ce490s8jdo4os5ddc0.png"/>
          <p:cNvPicPr>
            <a:picLocks noChangeAspect="1"/>
          </p:cNvPicPr>
          <p:nvPr/>
        </p:nvPicPr>
        <p:blipFill>
          <a:blip r:embed="rId3"/>
          <a:srcRect l="33" t="5" r="33" b="-5"/>
          <a:stretch>
            <a:fillRect/>
          </a:stretch>
        </p:blipFill>
        <p:spPr>
          <a:xfrm>
            <a:off x="9111309" y="2100634"/>
            <a:ext cx="2749265" cy="2501570"/>
          </a:xfrm>
          <a:prstGeom prst="rect">
            <a:avLst/>
          </a:prstGeom>
        </p:spPr>
      </p:pic>
      <p:sp>
        <p:nvSpPr>
          <p:cNvPr id="18" name="Text 15"/>
          <p:cNvSpPr/>
          <p:nvPr/>
        </p:nvSpPr>
        <p:spPr>
          <a:xfrm>
            <a:off x="590550" y="2453640"/>
            <a:ext cx="2538095" cy="260604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là một công cụ tìm kiếm dựa trên Apache Lucene, hỗ trợ tìm kiếm phân tán và có giao diện web HTTP. Nó được thiết kế để hoạt động như một server cloud theo cơ chế RESTful.</a:t>
            </a:r>
            <a:endParaRPr lang="en-US" sz="1600" dirty="0"/>
          </a:p>
        </p:txBody>
      </p:sp>
      <p:sp>
        <p:nvSpPr>
          <p:cNvPr id="19" name="Text 16"/>
          <p:cNvSpPr/>
          <p:nvPr/>
        </p:nvSpPr>
        <p:spPr>
          <a:xfrm>
            <a:off x="590550" y="1610360"/>
            <a:ext cx="2538095" cy="64516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Giới thiệu Elasticsearch</a:t>
            </a:r>
            <a:endParaRPr lang="en-US" sz="1600" dirty="0"/>
          </a:p>
        </p:txBody>
      </p:sp>
      <p:sp>
        <p:nvSpPr>
          <p:cNvPr id="20" name="Text 17"/>
          <p:cNvSpPr/>
          <p:nvPr/>
        </p:nvSpPr>
        <p:spPr>
          <a:xfrm>
            <a:off x="3473450" y="2453640"/>
            <a:ext cx="2538095" cy="260604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có khả năng tìm kiếm dữ liệu gần như thời gian thực, nhờ vào cơ chế lập chỉ mục và phân tán dữ liệu. Nó lý tưởng cho các ứng dụng cần phản hồi nhanh chóng.</a:t>
            </a:r>
            <a:endParaRPr lang="en-US" sz="1600" dirty="0"/>
          </a:p>
        </p:txBody>
      </p:sp>
      <p:sp>
        <p:nvSpPr>
          <p:cNvPr id="21" name="Text 18"/>
          <p:cNvSpPr/>
          <p:nvPr/>
        </p:nvSpPr>
        <p:spPr>
          <a:xfrm>
            <a:off x="3473450" y="1610360"/>
            <a:ext cx="2538095" cy="64516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Tốc độ tìm kiếm nhanh</a:t>
            </a:r>
            <a:endParaRPr lang="en-US" sz="1600" dirty="0"/>
          </a:p>
        </p:txBody>
      </p:sp>
      <p:sp>
        <p:nvSpPr>
          <p:cNvPr id="22" name="Text 19"/>
          <p:cNvSpPr/>
          <p:nvPr/>
        </p:nvSpPr>
        <p:spPr>
          <a:xfrm>
            <a:off x="6229350" y="2453640"/>
            <a:ext cx="2538095" cy="260604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có kiến trúc phân tán, cho phép mở rộng quy mô lên đến hàng nghìn node và quản lý petabyte dữ liệu. Nó hỗ trợ phân tán dữ liệu qua shard và replica.</a:t>
            </a:r>
            <a:endParaRPr lang="en-US" sz="1600" dirty="0"/>
          </a:p>
        </p:txBody>
      </p:sp>
      <p:sp>
        <p:nvSpPr>
          <p:cNvPr id="23" name="Text 20"/>
          <p:cNvSpPr/>
          <p:nvPr/>
        </p:nvSpPr>
        <p:spPr>
          <a:xfrm>
            <a:off x="6229350" y="1610360"/>
            <a:ext cx="2538095" cy="64516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Khả năng mở rộng linh hoạt</a:t>
            </a:r>
            <a:endParaRPr lang="en-US" sz="1600" dirty="0"/>
          </a:p>
        </p:txBody>
      </p:sp>
      <p:sp>
        <p:nvSpPr>
          <p:cNvPr id="24" name="Shape 21"/>
          <p:cNvSpPr/>
          <p:nvPr/>
        </p:nvSpPr>
        <p:spPr>
          <a:xfrm>
            <a:off x="3258185" y="1695450"/>
            <a:ext cx="0" cy="3240000"/>
          </a:xfrm>
          <a:prstGeom prst="straightConnector1">
            <a:avLst/>
          </a:prstGeom>
          <a:noFill/>
          <a:ln w="28575">
            <a:solidFill>
              <a:srgbClr val="7E5F3E"/>
            </a:solidFill>
            <a:prstDash val="sysDot"/>
            <a:headEnd type="none"/>
            <a:tailEnd type="none"/>
          </a:ln>
        </p:spPr>
      </p:sp>
      <p:sp>
        <p:nvSpPr>
          <p:cNvPr id="25" name="Shape 22"/>
          <p:cNvSpPr/>
          <p:nvPr/>
        </p:nvSpPr>
        <p:spPr>
          <a:xfrm>
            <a:off x="6120765" y="1695450"/>
            <a:ext cx="0" cy="3240000"/>
          </a:xfrm>
          <a:prstGeom prst="straightConnector1">
            <a:avLst/>
          </a:prstGeom>
          <a:noFill/>
          <a:ln w="28575">
            <a:solidFill>
              <a:srgbClr val="7E5F3E"/>
            </a:solidFill>
            <a:prstDash val="sysDot"/>
            <a:headEnd type="none"/>
            <a:tailEnd type="none"/>
          </a:ln>
        </p:spPr>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p:spPr>
      </p:sp>
      <p:sp>
        <p:nvSpPr>
          <p:cNvPr id="5" name="Text 3"/>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p:spPr>
      </p:sp>
      <p:sp>
        <p:nvSpPr>
          <p:cNvPr id="7" name="Text 5"/>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p:spPr>
      </p:sp>
      <p:sp>
        <p:nvSpPr>
          <p:cNvPr id="9" name="Text 7"/>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7542530" y="-25400"/>
            <a:ext cx="4662170" cy="6883400"/>
          </a:xfrm>
          <a:prstGeom prst="rect">
            <a:avLst/>
          </a:prstGeom>
          <a:gradFill flip="none" rotWithShape="1">
            <a:gsLst>
              <a:gs pos="0">
                <a:srgbClr val="D3BDA6"/>
              </a:gs>
              <a:gs pos="100000">
                <a:srgbClr val="BFA492"/>
              </a:gs>
            </a:gsLst>
            <a:lin ang="2700000" scaled="1"/>
          </a:gradFill>
        </p:spPr>
      </p:sp>
      <p:sp>
        <p:nvSpPr>
          <p:cNvPr id="11" name="Text 9"/>
          <p:cNvSpPr/>
          <p:nvPr/>
        </p:nvSpPr>
        <p:spPr>
          <a:xfrm>
            <a:off x="7542530" y="-25400"/>
            <a:ext cx="4662170" cy="68834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1456035" y="592138"/>
            <a:ext cx="351155" cy="43815"/>
          </a:xfrm>
          <a:prstGeom prst="roundRect">
            <a:avLst>
              <a:gd name="adj" fmla="val 50000"/>
            </a:avLst>
          </a:prstGeom>
          <a:solidFill>
            <a:srgbClr val="FFFFFF"/>
          </a:solidFill>
        </p:spPr>
      </p:sp>
      <p:sp>
        <p:nvSpPr>
          <p:cNvPr id="13" name="Text 11"/>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1456035" y="712153"/>
            <a:ext cx="351155" cy="43815"/>
          </a:xfrm>
          <a:prstGeom prst="roundRect">
            <a:avLst>
              <a:gd name="adj" fmla="val 50000"/>
            </a:avLst>
          </a:prstGeom>
          <a:solidFill>
            <a:srgbClr val="FFFFFF"/>
          </a:solidFill>
        </p:spPr>
      </p:sp>
      <p:sp>
        <p:nvSpPr>
          <p:cNvPr id="15" name="Text 13"/>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11456035" y="832168"/>
            <a:ext cx="351155" cy="43815"/>
          </a:xfrm>
          <a:prstGeom prst="roundRect">
            <a:avLst>
              <a:gd name="adj" fmla="val 50000"/>
            </a:avLst>
          </a:prstGeom>
          <a:solidFill>
            <a:srgbClr val="FFFFFF"/>
          </a:solidFill>
        </p:spPr>
      </p:sp>
      <p:sp>
        <p:nvSpPr>
          <p:cNvPr id="17" name="Text 15"/>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6"/>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Cấu trúc và cách hoạt động</a:t>
            </a:r>
            <a:endParaRPr lang="en-US" sz="1600" dirty="0"/>
          </a:p>
        </p:txBody>
      </p:sp>
      <p:sp>
        <p:nvSpPr>
          <p:cNvPr id="19" name="Text 17"/>
          <p:cNvSpPr/>
          <p:nvPr/>
        </p:nvSpPr>
        <p:spPr>
          <a:xfrm>
            <a:off x="7931785" y="1638300"/>
            <a:ext cx="3761105" cy="623570"/>
          </a:xfrm>
          <a:prstGeom prst="rect">
            <a:avLst/>
          </a:prstGeom>
          <a:noFill/>
        </p:spPr>
        <p:txBody>
          <a:bodyPr wrap="square" lIns="91440" tIns="45720" rIns="91440" bIns="45720" rtlCol="0" anchor="t"/>
          <a:lstStyle/>
          <a:p>
            <a:pPr marL="0" indent="0">
              <a:lnSpc>
                <a:spcPct val="100000"/>
              </a:lnSpc>
              <a:buNone/>
            </a:pPr>
            <a:r>
              <a:rPr lang="en-US" sz="2400" b="1" dirty="0">
                <a:solidFill>
                  <a:srgbClr val="FFFFFF"/>
                </a:solidFill>
                <a:latin typeface="MiSans" pitchFamily="34" charset="-122"/>
                <a:ea typeface="MiSans" pitchFamily="34" charset="-122"/>
                <a:cs typeface="MiSans" pitchFamily="34" charset="-120"/>
              </a:rPr>
              <a:t>Cấu trúc và luồng dữ liệu</a:t>
            </a:r>
            <a:endParaRPr lang="en-US" sz="1600" dirty="0"/>
          </a:p>
        </p:txBody>
      </p:sp>
      <p:sp>
        <p:nvSpPr>
          <p:cNvPr id="20" name="Text 18"/>
          <p:cNvSpPr/>
          <p:nvPr/>
        </p:nvSpPr>
        <p:spPr>
          <a:xfrm>
            <a:off x="7931785" y="2438400"/>
            <a:ext cx="3761105" cy="3124200"/>
          </a:xfrm>
          <a:prstGeom prst="rect">
            <a:avLst/>
          </a:prstGeom>
          <a:noFill/>
        </p:spPr>
        <p:txBody>
          <a:bodyPr wrap="square" lIns="91440" tIns="45720" rIns="91440" bIns="45720" rtlCol="0" anchor="t"/>
          <a:lstStyle/>
          <a:p>
            <a:pPr marL="0" indent="0">
              <a:lnSpc>
                <a:spcPct val="130000"/>
              </a:lnSpc>
              <a:buNone/>
            </a:pPr>
            <a:r>
              <a:rPr lang="en-US" sz="1800" dirty="0">
                <a:solidFill>
                  <a:srgbClr val="FFFFFF"/>
                </a:solidFill>
                <a:latin typeface="MiSans" pitchFamily="34" charset="-122"/>
                <a:ea typeface="MiSans" pitchFamily="34" charset="-122"/>
                <a:cs typeface="MiSans" pitchFamily="34" charset="-120"/>
              </a:rPr>
              <a:t>Elasticsearch sử dụng kiến trúc Cluster, Node, Index, Shard và Replica. Dữ liệu được phân tích, lập chỉ mục và lưu trữ dưới dạng JSON. Truy vấn được thực hiện thông qua RESTful API, tận dụng cơ chế phân tán để tăng tốc độ.</a:t>
            </a:r>
            <a:endParaRPr lang="en-US" sz="1600" dirty="0"/>
          </a:p>
        </p:txBody>
      </p:sp>
      <p:pic>
        <p:nvPicPr>
          <p:cNvPr id="21" name="Image 0" descr="https://kimi-img.moonshot.cn/pub/slides/slides_tmpl/image/25-09-28-15:22:03-d3ce46os8jdo4os5dcr0.jpg"/>
          <p:cNvPicPr>
            <a:picLocks noChangeAspect="1"/>
          </p:cNvPicPr>
          <p:nvPr/>
        </p:nvPicPr>
        <p:blipFill>
          <a:blip r:embed="rId3"/>
          <a:srcRect l="16" r="16"/>
          <a:stretch>
            <a:fillRect/>
          </a:stretch>
        </p:blipFill>
        <p:spPr>
          <a:xfrm>
            <a:off x="1066165" y="1638300"/>
            <a:ext cx="5953760" cy="4064000"/>
          </a:xfrm>
          <a:prstGeom prst="snip1Rect">
            <a:avLst>
              <a:gd name="adj" fmla="val 0"/>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p:spPr>
      </p:sp>
      <p:sp>
        <p:nvSpPr>
          <p:cNvPr id="5" name="Text 3"/>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p:spPr>
      </p:sp>
      <p:sp>
        <p:nvSpPr>
          <p:cNvPr id="7" name="Text 5"/>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p:spPr>
      </p:sp>
      <p:sp>
        <p:nvSpPr>
          <p:cNvPr id="9" name="Text 7"/>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p:spPr>
      </p:sp>
      <p:sp>
        <p:nvSpPr>
          <p:cNvPr id="11" name="Text 9"/>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p:spPr>
      </p:sp>
      <p:sp>
        <p:nvSpPr>
          <p:cNvPr id="13" name="Text 11"/>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p:spPr>
      </p:sp>
      <p:sp>
        <p:nvSpPr>
          <p:cNvPr id="15" name="Text 13"/>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Text 14"/>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Tại sao Elasticsearch nhanh</a:t>
            </a:r>
            <a:endParaRPr lang="en-US" sz="1600" dirty="0"/>
          </a:p>
        </p:txBody>
      </p:sp>
      <p:sp>
        <p:nvSpPr>
          <p:cNvPr id="17"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p:spPr>
      </p:sp>
      <p:sp>
        <p:nvSpPr>
          <p:cNvPr id="18" name="Text 16"/>
          <p:cNvSpPr/>
          <p:nvPr/>
        </p:nvSpPr>
        <p:spPr>
          <a:xfrm>
            <a:off x="-16510" y="6572885"/>
            <a:ext cx="12221210" cy="2851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a:off x="678992" y="1943179"/>
            <a:ext cx="1640008" cy="1640683"/>
          </a:xfrm>
          <a:prstGeom prst="ellipse">
            <a:avLst/>
          </a:prstGeom>
          <a:gradFill flip="none" rotWithShape="1">
            <a:gsLst>
              <a:gs pos="0">
                <a:srgbClr val="D3BDA6"/>
              </a:gs>
              <a:gs pos="100000">
                <a:srgbClr val="BFA492"/>
              </a:gs>
            </a:gsLst>
            <a:lin ang="2700000" scaled="1"/>
          </a:gradFill>
        </p:spPr>
      </p:sp>
      <p:sp>
        <p:nvSpPr>
          <p:cNvPr id="20" name="Text 18"/>
          <p:cNvSpPr/>
          <p:nvPr/>
        </p:nvSpPr>
        <p:spPr>
          <a:xfrm>
            <a:off x="678992" y="1943179"/>
            <a:ext cx="1640008" cy="1640683"/>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a:off x="521970" y="1777365"/>
            <a:ext cx="8998234" cy="1972310"/>
          </a:xfrm>
          <a:prstGeom prst="roundRect">
            <a:avLst>
              <a:gd name="adj" fmla="val 50000"/>
            </a:avLst>
          </a:prstGeom>
          <a:solidFill>
            <a:srgbClr val="000000">
              <a:alpha val="0"/>
            </a:srgbClr>
          </a:solidFill>
          <a:ln w="19050">
            <a:gradFill flip="none" rotWithShape="1">
              <a:gsLst>
                <a:gs pos="0">
                  <a:srgbClr val="B48E67"/>
                </a:gs>
                <a:gs pos="100000">
                  <a:srgbClr val="B48E67">
                    <a:alpha val="0"/>
                  </a:srgbClr>
                </a:gs>
              </a:gsLst>
              <a:lin ang="0" scaled="1"/>
            </a:gradFill>
            <a:prstDash val="solid"/>
          </a:ln>
        </p:spPr>
      </p:sp>
      <p:sp>
        <p:nvSpPr>
          <p:cNvPr id="22" name="Text 20"/>
          <p:cNvSpPr/>
          <p:nvPr/>
        </p:nvSpPr>
        <p:spPr>
          <a:xfrm>
            <a:off x="521970" y="1777365"/>
            <a:ext cx="8998234" cy="19723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1"/>
          <p:cNvSpPr/>
          <p:nvPr/>
        </p:nvSpPr>
        <p:spPr>
          <a:xfrm>
            <a:off x="731333" y="2266079"/>
            <a:ext cx="1424829" cy="922157"/>
          </a:xfrm>
          <a:prstGeom prst="rect">
            <a:avLst/>
          </a:prstGeom>
          <a:noFill/>
        </p:spPr>
        <p:txBody>
          <a:bodyPr wrap="square" lIns="91440" tIns="45720" rIns="91440" bIns="45720" rtlCol="0" anchor="t">
            <a:spAutoFit/>
          </a:bodyPr>
          <a:lstStyle/>
          <a:p>
            <a:pPr marL="0" indent="0">
              <a:lnSpc>
                <a:spcPct val="100000"/>
              </a:lnSpc>
              <a:buNone/>
            </a:pPr>
            <a:r>
              <a:rPr lang="en-US" sz="5400" b="1" dirty="0">
                <a:solidFill>
                  <a:srgbClr val="FFFFFF"/>
                </a:solidFill>
                <a:latin typeface="MiSans" pitchFamily="34" charset="-122"/>
                <a:ea typeface="MiSans" pitchFamily="34" charset="-122"/>
                <a:cs typeface="MiSans" pitchFamily="34" charset="-120"/>
              </a:rPr>
              <a:t>01</a:t>
            </a:r>
            <a:endParaRPr lang="en-US" sz="1600" dirty="0"/>
          </a:p>
        </p:txBody>
      </p:sp>
      <p:sp>
        <p:nvSpPr>
          <p:cNvPr id="24" name="Text 22"/>
          <p:cNvSpPr/>
          <p:nvPr/>
        </p:nvSpPr>
        <p:spPr>
          <a:xfrm>
            <a:off x="2457373" y="1901646"/>
            <a:ext cx="7660082" cy="209077"/>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MiSans" pitchFamily="34" charset="-122"/>
                <a:ea typeface="MiSans" pitchFamily="34" charset="-122"/>
                <a:cs typeface="MiSans" pitchFamily="34" charset="-120"/>
              </a:rPr>
              <a:t>Cơ chế Inverted Index</a:t>
            </a:r>
            <a:endParaRPr lang="en-US" sz="1600" dirty="0"/>
          </a:p>
        </p:txBody>
      </p:sp>
      <p:sp>
        <p:nvSpPr>
          <p:cNvPr id="25" name="Text 23"/>
          <p:cNvSpPr/>
          <p:nvPr/>
        </p:nvSpPr>
        <p:spPr>
          <a:xfrm>
            <a:off x="2457373" y="2330803"/>
            <a:ext cx="5923485" cy="114895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000000"/>
                </a:solidFill>
                <a:latin typeface="MiSans" pitchFamily="34" charset="-122"/>
                <a:ea typeface="MiSans" pitchFamily="34" charset="-122"/>
                <a:cs typeface="MiSans" pitchFamily="34" charset="-120"/>
              </a:rPr>
              <a:t>Elasticsearch sử dụng cấu trúc Inverted Index để lưu trữ từ khóa và vị trí của chúng trong tài liệu. Điều này giúp giảm thiểu thời gian tìm kiếm và tăng tốc độ phản hồi.</a:t>
            </a:r>
            <a:endParaRPr lang="en-US" sz="1600" dirty="0"/>
          </a:p>
        </p:txBody>
      </p:sp>
      <p:pic>
        <p:nvPicPr>
          <p:cNvPr id="26" name="Image 0" descr="https://kimi-img.moonshot.cn/pub/slides/slides_tmpl/image/25-09-28-15:22:07-d3ce47os8jdo4os5dd20.png"/>
          <p:cNvPicPr>
            <a:picLocks noChangeAspect="1"/>
          </p:cNvPicPr>
          <p:nvPr/>
        </p:nvPicPr>
        <p:blipFill>
          <a:blip r:embed="rId3"/>
          <a:srcRect l="112" r="112"/>
          <a:stretch>
            <a:fillRect/>
          </a:stretch>
        </p:blipFill>
        <p:spPr>
          <a:xfrm>
            <a:off x="8629650" y="1240790"/>
            <a:ext cx="2834640" cy="4940935"/>
          </a:xfrm>
          <a:prstGeom prst="rect">
            <a:avLst/>
          </a:prstGeom>
        </p:spPr>
      </p:pic>
      <p:sp>
        <p:nvSpPr>
          <p:cNvPr id="27" name="Shape 24"/>
          <p:cNvSpPr/>
          <p:nvPr/>
        </p:nvSpPr>
        <p:spPr>
          <a:xfrm>
            <a:off x="678992" y="4158059"/>
            <a:ext cx="1640008" cy="1640683"/>
          </a:xfrm>
          <a:prstGeom prst="ellipse">
            <a:avLst/>
          </a:prstGeom>
          <a:gradFill flip="none" rotWithShape="1">
            <a:gsLst>
              <a:gs pos="0">
                <a:srgbClr val="D3BDA6"/>
              </a:gs>
              <a:gs pos="100000">
                <a:srgbClr val="BFA492"/>
              </a:gs>
            </a:gsLst>
            <a:lin ang="2700000" scaled="1"/>
          </a:gradFill>
        </p:spPr>
      </p:sp>
      <p:sp>
        <p:nvSpPr>
          <p:cNvPr id="28" name="Text 25"/>
          <p:cNvSpPr/>
          <p:nvPr/>
        </p:nvSpPr>
        <p:spPr>
          <a:xfrm>
            <a:off x="678992" y="4158059"/>
            <a:ext cx="1640008" cy="1640683"/>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6"/>
          <p:cNvSpPr/>
          <p:nvPr/>
        </p:nvSpPr>
        <p:spPr>
          <a:xfrm>
            <a:off x="521970" y="3992245"/>
            <a:ext cx="8998234" cy="1972310"/>
          </a:xfrm>
          <a:prstGeom prst="roundRect">
            <a:avLst>
              <a:gd name="adj" fmla="val 50000"/>
            </a:avLst>
          </a:prstGeom>
          <a:solidFill>
            <a:srgbClr val="000000">
              <a:alpha val="0"/>
            </a:srgbClr>
          </a:solidFill>
          <a:ln w="19050">
            <a:gradFill flip="none" rotWithShape="1">
              <a:gsLst>
                <a:gs pos="0">
                  <a:srgbClr val="B48E67"/>
                </a:gs>
                <a:gs pos="100000">
                  <a:srgbClr val="B48E67">
                    <a:alpha val="0"/>
                  </a:srgbClr>
                </a:gs>
              </a:gsLst>
              <a:lin ang="0" scaled="1"/>
            </a:gradFill>
            <a:prstDash val="solid"/>
          </a:ln>
        </p:spPr>
      </p:sp>
      <p:sp>
        <p:nvSpPr>
          <p:cNvPr id="30" name="Text 27"/>
          <p:cNvSpPr/>
          <p:nvPr/>
        </p:nvSpPr>
        <p:spPr>
          <a:xfrm>
            <a:off x="521970" y="3992245"/>
            <a:ext cx="8998234" cy="19723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Text 28"/>
          <p:cNvSpPr/>
          <p:nvPr/>
        </p:nvSpPr>
        <p:spPr>
          <a:xfrm>
            <a:off x="731333" y="4480959"/>
            <a:ext cx="1424829" cy="922157"/>
          </a:xfrm>
          <a:prstGeom prst="rect">
            <a:avLst/>
          </a:prstGeom>
          <a:noFill/>
        </p:spPr>
        <p:txBody>
          <a:bodyPr wrap="square" lIns="91440" tIns="45720" rIns="91440" bIns="45720" rtlCol="0" anchor="t">
            <a:spAutoFit/>
          </a:bodyPr>
          <a:lstStyle/>
          <a:p>
            <a:pPr marL="0" indent="0">
              <a:lnSpc>
                <a:spcPct val="100000"/>
              </a:lnSpc>
              <a:buNone/>
            </a:pPr>
            <a:r>
              <a:rPr lang="en-US" sz="5400" b="1" dirty="0">
                <a:solidFill>
                  <a:srgbClr val="FFFFFF"/>
                </a:solidFill>
                <a:latin typeface="MiSans" pitchFamily="34" charset="-122"/>
                <a:ea typeface="MiSans" pitchFamily="34" charset="-122"/>
                <a:cs typeface="MiSans" pitchFamily="34" charset="-120"/>
              </a:rPr>
              <a:t>02</a:t>
            </a:r>
            <a:endParaRPr lang="en-US" sz="1600" dirty="0"/>
          </a:p>
        </p:txBody>
      </p:sp>
      <p:sp>
        <p:nvSpPr>
          <p:cNvPr id="32" name="Text 29"/>
          <p:cNvSpPr/>
          <p:nvPr/>
        </p:nvSpPr>
        <p:spPr>
          <a:xfrm>
            <a:off x="2457373" y="4116526"/>
            <a:ext cx="7660082" cy="106804"/>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MiSans" pitchFamily="34" charset="-122"/>
                <a:ea typeface="MiSans" pitchFamily="34" charset="-122"/>
                <a:cs typeface="MiSans" pitchFamily="34" charset="-120"/>
              </a:rPr>
              <a:t>Phân tán và xử lý song song</a:t>
            </a:r>
            <a:endParaRPr lang="en-US" sz="1600" dirty="0"/>
          </a:p>
        </p:txBody>
      </p:sp>
      <p:sp>
        <p:nvSpPr>
          <p:cNvPr id="33" name="Text 30"/>
          <p:cNvSpPr/>
          <p:nvPr/>
        </p:nvSpPr>
        <p:spPr>
          <a:xfrm>
            <a:off x="2457373" y="4545683"/>
            <a:ext cx="5923485" cy="114895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000000"/>
                </a:solidFill>
                <a:latin typeface="MiSans" pitchFamily="34" charset="-122"/>
                <a:ea typeface="MiSans" pitchFamily="34" charset="-122"/>
                <a:cs typeface="MiSans" pitchFamily="34" charset="-120"/>
              </a:rPr>
              <a:t>Dữ liệu được phân tán qua các shard và replica, cho phép Elasticsearch xử lý truy vấn song song trên nhiều node. Điều này tận dụng sức mạnh của hệ thống phân tán để tăng hiệu suất.</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3-d3ce46os8jdo4os5dcsg.png"/>
          <p:cNvPicPr>
            <a:picLocks noChangeAspect="1"/>
          </p:cNvPicPr>
          <p:nvPr/>
        </p:nvPicPr>
        <p:blipFill>
          <a:blip r:embed="rId3"/>
          <a:srcRect l="5" r="5"/>
          <a:stretch>
            <a:fillRect/>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p:spPr>
      </p:sp>
      <p:sp>
        <p:nvSpPr>
          <p:cNvPr id="4" name="Text 1"/>
          <p:cNvSpPr/>
          <p:nvPr/>
        </p:nvSpPr>
        <p:spPr>
          <a:xfrm>
            <a:off x="5172075" y="1997710"/>
            <a:ext cx="988695" cy="7607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5092065" y="2949575"/>
            <a:ext cx="6986905" cy="1015365"/>
          </a:xfrm>
          <a:prstGeom prst="rect">
            <a:avLst/>
          </a:prstGeom>
          <a:noFill/>
        </p:spPr>
        <p:txBody>
          <a:bodyPr wrap="square" lIns="91440" tIns="45720" rIns="91440" bIns="45720" rtlCol="0" anchor="t"/>
          <a:lstStyle/>
          <a:p>
            <a:pPr marL="0" indent="0">
              <a:lnSpc>
                <a:spcPct val="100000"/>
              </a:lnSpc>
              <a:buNone/>
            </a:pPr>
            <a:r>
              <a:rPr lang="en-US" sz="4000" b="1" dirty="0">
                <a:solidFill>
                  <a:srgbClr val="212931"/>
                </a:solidFill>
                <a:latin typeface="MiSans" pitchFamily="34" charset="-122"/>
                <a:ea typeface="MiSans" pitchFamily="34" charset="-122"/>
                <a:cs typeface="MiSans" pitchFamily="34" charset="-120"/>
              </a:rPr>
              <a:t>MongoDB</a:t>
            </a:r>
            <a:endParaRPr lang="en-US" sz="1600" dirty="0"/>
          </a:p>
        </p:txBody>
      </p:sp>
      <p:sp>
        <p:nvSpPr>
          <p:cNvPr id="6" name="Text 3"/>
          <p:cNvSpPr/>
          <p:nvPr/>
        </p:nvSpPr>
        <p:spPr>
          <a:xfrm>
            <a:off x="254000" y="2086610"/>
            <a:ext cx="3128010" cy="862965"/>
          </a:xfrm>
          <a:prstGeom prst="rect">
            <a:avLst/>
          </a:prstGeom>
          <a:noFill/>
        </p:spPr>
        <p:txBody>
          <a:bodyPr wrap="square" lIns="91440" tIns="45720" rIns="91440" bIns="45720" rtlCol="0" anchor="t"/>
          <a:lstStyle/>
          <a:p>
            <a:pPr marL="0" indent="0">
              <a:lnSpc>
                <a:spcPct val="100000"/>
              </a:lnSpc>
              <a:buNone/>
            </a:pPr>
            <a:r>
              <a:rPr lang="en-US" sz="16600" b="1" dirty="0">
                <a:solidFill>
                  <a:srgbClr val="FFFFFF"/>
                </a:solidFill>
                <a:latin typeface="MiSans" pitchFamily="34" charset="-122"/>
                <a:ea typeface="MiSans" pitchFamily="34" charset="-122"/>
                <a:cs typeface="MiSans" pitchFamily="34" charset="-120"/>
              </a:rPr>
              <a:t>03</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kimi-img.moonshot.cn/pub/slides/slides_tmpl/image/25-09-28-15:22:10-d3ce48gs8jdo4os5dd9g.png"/>
          <p:cNvPicPr>
            <a:picLocks noChangeAspect="1"/>
          </p:cNvPicPr>
          <p:nvPr/>
        </p:nvPicPr>
        <p:blipFill>
          <a:blip r:embed="rId3"/>
          <a:srcRect l="5" r="5"/>
          <a:stretch>
            <a:fillRect/>
          </a:stretch>
        </p:blipFill>
        <p:spPr>
          <a:xfrm>
            <a:off x="-9525" y="-19685"/>
            <a:ext cx="12197080" cy="6890385"/>
          </a:xfrm>
          <a:prstGeom prst="rect">
            <a:avLst/>
          </a:prstGeom>
        </p:spPr>
      </p:pic>
      <p:sp>
        <p:nvSpPr>
          <p:cNvPr id="5" name="Text 2"/>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MongoDB và đặc trưng NoSQL</a:t>
            </a:r>
            <a:endParaRPr lang="en-US" sz="1600" dirty="0"/>
          </a:p>
        </p:txBody>
      </p:sp>
      <p:sp>
        <p:nvSpPr>
          <p:cNvPr id="6" name="Shape 3"/>
          <p:cNvSpPr/>
          <p:nvPr/>
        </p:nvSpPr>
        <p:spPr>
          <a:xfrm>
            <a:off x="991235" y="1871345"/>
            <a:ext cx="3147695" cy="4275455"/>
          </a:xfrm>
          <a:prstGeom prst="roundRect">
            <a:avLst>
              <a:gd name="adj" fmla="val 7796"/>
            </a:avLst>
          </a:prstGeom>
          <a:solidFill>
            <a:srgbClr val="FFFFFF"/>
          </a:solidFill>
          <a:ln w="19050">
            <a:solidFill>
              <a:srgbClr val="D3BDA6"/>
            </a:solidFill>
            <a:prstDash val="solid"/>
          </a:ln>
        </p:spPr>
      </p:sp>
      <p:sp>
        <p:nvSpPr>
          <p:cNvPr id="7" name="Text 4"/>
          <p:cNvSpPr/>
          <p:nvPr/>
        </p:nvSpPr>
        <p:spPr>
          <a:xfrm>
            <a:off x="991235" y="1871345"/>
            <a:ext cx="3147695" cy="42754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5"/>
          <p:cNvSpPr/>
          <p:nvPr/>
        </p:nvSpPr>
        <p:spPr>
          <a:xfrm>
            <a:off x="1151255" y="3270250"/>
            <a:ext cx="2828290" cy="2675255"/>
          </a:xfrm>
          <a:prstGeom prst="rect">
            <a:avLst/>
          </a:prstGeom>
          <a:noFill/>
        </p:spPr>
        <p:txBody>
          <a:bodyPr wrap="square" lIns="91440" tIns="45720" rIns="91440" bIns="45720" rtlCol="0" anchor="t">
            <a:spAutoFit/>
          </a:bodyPr>
          <a:lstStyle/>
          <a:p>
            <a:pPr marL="0" indent="0">
              <a:lnSpc>
                <a:spcPct val="150000"/>
              </a:lnSpc>
              <a:buNone/>
            </a:pPr>
            <a:r>
              <a:rPr lang="en-US" sz="1400" dirty="0">
                <a:solidFill>
                  <a:srgbClr val="2C3741"/>
                </a:solidFill>
                <a:latin typeface="MiSans" pitchFamily="34" charset="-122"/>
                <a:ea typeface="MiSans" pitchFamily="34" charset="-122"/>
                <a:cs typeface="MiSans" pitchFamily="34" charset="-120"/>
              </a:rPr>
              <a:t>MongoDB là một cơ sở dữ liệu hướng tài liệu, sử dụng BSON để lưu trữ dữ liệu. Nó hỗ trợ các tính năng như ad hoc query, indexing, replication, aggregation và file storage.</a:t>
            </a:r>
            <a:endParaRPr lang="en-US" sz="1600" dirty="0"/>
          </a:p>
        </p:txBody>
      </p:sp>
      <p:sp>
        <p:nvSpPr>
          <p:cNvPr id="9" name="Text 6"/>
          <p:cNvSpPr/>
          <p:nvPr/>
        </p:nvSpPr>
        <p:spPr>
          <a:xfrm>
            <a:off x="1151255" y="2642870"/>
            <a:ext cx="2828290" cy="64516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Giới thiệu MongoDB</a:t>
            </a:r>
            <a:endParaRPr lang="en-US" sz="1600" dirty="0"/>
          </a:p>
        </p:txBody>
      </p:sp>
      <p:sp>
        <p:nvSpPr>
          <p:cNvPr id="10" name="Shape 7"/>
          <p:cNvSpPr/>
          <p:nvPr/>
        </p:nvSpPr>
        <p:spPr>
          <a:xfrm>
            <a:off x="2135505" y="1508125"/>
            <a:ext cx="859790" cy="904875"/>
          </a:xfrm>
          <a:prstGeom prst="ellipse">
            <a:avLst/>
          </a:prstGeom>
          <a:gradFill flip="none" rotWithShape="1">
            <a:gsLst>
              <a:gs pos="0">
                <a:srgbClr val="D3BDA6"/>
              </a:gs>
              <a:gs pos="100000">
                <a:srgbClr val="AB8A7D"/>
              </a:gs>
            </a:gsLst>
            <a:lin ang="2700000" scaled="1"/>
          </a:gradFill>
        </p:spPr>
      </p:sp>
      <p:sp>
        <p:nvSpPr>
          <p:cNvPr id="11" name="Text 8"/>
          <p:cNvSpPr/>
          <p:nvPr/>
        </p:nvSpPr>
        <p:spPr>
          <a:xfrm>
            <a:off x="2135505" y="1508125"/>
            <a:ext cx="859790" cy="904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9"/>
          <p:cNvSpPr/>
          <p:nvPr/>
        </p:nvSpPr>
        <p:spPr>
          <a:xfrm>
            <a:off x="2209800" y="1699895"/>
            <a:ext cx="710565" cy="521970"/>
          </a:xfrm>
          <a:prstGeom prst="rect">
            <a:avLst/>
          </a:prstGeom>
          <a:noFill/>
        </p:spPr>
        <p:txBody>
          <a:bodyPr wrap="square" lIns="91440" tIns="45720" rIns="91440" bIns="45720" rtlCol="0" anchor="t">
            <a:spAutoFit/>
          </a:bodyPr>
          <a:lstStyle/>
          <a:p>
            <a:pPr marL="0" indent="0">
              <a:lnSpc>
                <a:spcPct val="100000"/>
              </a:lnSpc>
              <a:buNone/>
            </a:pPr>
            <a:r>
              <a:rPr lang="en-US" sz="2800" b="1" dirty="0">
                <a:solidFill>
                  <a:srgbClr val="FFFFFF"/>
                </a:solidFill>
                <a:latin typeface="MiSans" pitchFamily="34" charset="-122"/>
                <a:ea typeface="MiSans" pitchFamily="34" charset="-122"/>
                <a:cs typeface="MiSans" pitchFamily="34" charset="-120"/>
              </a:rPr>
              <a:t>01</a:t>
            </a:r>
            <a:endParaRPr lang="en-US" sz="1600" dirty="0"/>
          </a:p>
        </p:txBody>
      </p:sp>
      <p:sp>
        <p:nvSpPr>
          <p:cNvPr id="13" name="Shape 10"/>
          <p:cNvSpPr/>
          <p:nvPr/>
        </p:nvSpPr>
        <p:spPr>
          <a:xfrm>
            <a:off x="4509135" y="1871345"/>
            <a:ext cx="3147695" cy="4275455"/>
          </a:xfrm>
          <a:prstGeom prst="roundRect">
            <a:avLst>
              <a:gd name="adj" fmla="val 7796"/>
            </a:avLst>
          </a:prstGeom>
          <a:solidFill>
            <a:srgbClr val="FFFFFF"/>
          </a:solidFill>
          <a:ln w="19050">
            <a:solidFill>
              <a:srgbClr val="D3BDA6"/>
            </a:solidFill>
            <a:prstDash val="solid"/>
          </a:ln>
        </p:spPr>
      </p:sp>
      <p:sp>
        <p:nvSpPr>
          <p:cNvPr id="14" name="Text 11"/>
          <p:cNvSpPr/>
          <p:nvPr/>
        </p:nvSpPr>
        <p:spPr>
          <a:xfrm>
            <a:off x="4509135" y="1871345"/>
            <a:ext cx="3147695" cy="42754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4669155" y="3270250"/>
            <a:ext cx="2828290" cy="2675255"/>
          </a:xfrm>
          <a:prstGeom prst="rect">
            <a:avLst/>
          </a:prstGeom>
          <a:noFill/>
        </p:spPr>
        <p:txBody>
          <a:bodyPr wrap="square" lIns="91440" tIns="45720" rIns="91440" bIns="45720" rtlCol="0" anchor="t">
            <a:spAutoFit/>
          </a:bodyPr>
          <a:lstStyle/>
          <a:p>
            <a:pPr marL="0" indent="0">
              <a:lnSpc>
                <a:spcPct val="150000"/>
              </a:lnSpc>
              <a:buNone/>
            </a:pPr>
            <a:r>
              <a:rPr lang="en-US" sz="1400" dirty="0">
                <a:solidFill>
                  <a:srgbClr val="2C3741"/>
                </a:solidFill>
                <a:latin typeface="MiSans" pitchFamily="34" charset="-122"/>
                <a:ea typeface="MiSans" pitchFamily="34" charset="-122"/>
                <a:cs typeface="MiSans" pitchFamily="34" charset="-120"/>
              </a:rPr>
              <a:t>MongoDB có ưu điểm về tính linh hoạt của schema, tốc độ đọc và ghi cao nhờ caching trên RAM, và khả năng mở rộng dễ dàng. Tuy nhiên, nó không hỗ trợ transaction.</a:t>
            </a:r>
            <a:endParaRPr lang="en-US" sz="1600" dirty="0"/>
          </a:p>
        </p:txBody>
      </p:sp>
      <p:sp>
        <p:nvSpPr>
          <p:cNvPr id="16" name="Text 13"/>
          <p:cNvSpPr/>
          <p:nvPr/>
        </p:nvSpPr>
        <p:spPr>
          <a:xfrm>
            <a:off x="4669155" y="2642870"/>
            <a:ext cx="2828290" cy="64516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Ưu điểm của MongoDB</a:t>
            </a:r>
            <a:endParaRPr lang="en-US" sz="1600" dirty="0"/>
          </a:p>
        </p:txBody>
      </p:sp>
      <p:sp>
        <p:nvSpPr>
          <p:cNvPr id="17" name="Shape 14"/>
          <p:cNvSpPr/>
          <p:nvPr/>
        </p:nvSpPr>
        <p:spPr>
          <a:xfrm>
            <a:off x="5653405" y="1508125"/>
            <a:ext cx="859790" cy="904875"/>
          </a:xfrm>
          <a:prstGeom prst="ellipse">
            <a:avLst/>
          </a:prstGeom>
          <a:gradFill flip="none" rotWithShape="1">
            <a:gsLst>
              <a:gs pos="0">
                <a:srgbClr val="D3BDA6"/>
              </a:gs>
              <a:gs pos="100000">
                <a:srgbClr val="AB8A7D"/>
              </a:gs>
            </a:gsLst>
            <a:lin ang="2700000" scaled="1"/>
          </a:gradFill>
        </p:spPr>
      </p:sp>
      <p:sp>
        <p:nvSpPr>
          <p:cNvPr id="18" name="Text 15"/>
          <p:cNvSpPr/>
          <p:nvPr/>
        </p:nvSpPr>
        <p:spPr>
          <a:xfrm>
            <a:off x="5653405" y="1508125"/>
            <a:ext cx="859790" cy="904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727700" y="1699895"/>
            <a:ext cx="710565" cy="521970"/>
          </a:xfrm>
          <a:prstGeom prst="rect">
            <a:avLst/>
          </a:prstGeom>
          <a:noFill/>
        </p:spPr>
        <p:txBody>
          <a:bodyPr wrap="square" lIns="91440" tIns="45720" rIns="91440" bIns="45720" rtlCol="0" anchor="t">
            <a:spAutoFit/>
          </a:bodyPr>
          <a:lstStyle/>
          <a:p>
            <a:pPr marL="0" indent="0">
              <a:lnSpc>
                <a:spcPct val="100000"/>
              </a:lnSpc>
              <a:buNone/>
            </a:pPr>
            <a:r>
              <a:rPr lang="en-US" sz="2800" b="1" dirty="0">
                <a:solidFill>
                  <a:srgbClr val="FFFFFF"/>
                </a:solidFill>
                <a:latin typeface="MiSans" pitchFamily="34" charset="-122"/>
                <a:ea typeface="MiSans" pitchFamily="34" charset="-122"/>
                <a:cs typeface="MiSans" pitchFamily="34" charset="-120"/>
              </a:rPr>
              <a:t>02</a:t>
            </a:r>
            <a:endParaRPr lang="en-US" sz="1600" dirty="0"/>
          </a:p>
        </p:txBody>
      </p:sp>
      <p:sp>
        <p:nvSpPr>
          <p:cNvPr id="20" name="Shape 17"/>
          <p:cNvSpPr/>
          <p:nvPr/>
        </p:nvSpPr>
        <p:spPr>
          <a:xfrm>
            <a:off x="8027035" y="1871345"/>
            <a:ext cx="3147695" cy="4275455"/>
          </a:xfrm>
          <a:prstGeom prst="roundRect">
            <a:avLst>
              <a:gd name="adj" fmla="val 7796"/>
            </a:avLst>
          </a:prstGeom>
          <a:solidFill>
            <a:srgbClr val="FFFFFF"/>
          </a:solidFill>
          <a:ln w="19050">
            <a:solidFill>
              <a:srgbClr val="D3BDA6"/>
            </a:solidFill>
            <a:prstDash val="solid"/>
          </a:ln>
        </p:spPr>
      </p:sp>
      <p:sp>
        <p:nvSpPr>
          <p:cNvPr id="21" name="Text 18"/>
          <p:cNvSpPr/>
          <p:nvPr/>
        </p:nvSpPr>
        <p:spPr>
          <a:xfrm>
            <a:off x="8027035" y="1871345"/>
            <a:ext cx="3147695" cy="42754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19"/>
          <p:cNvSpPr/>
          <p:nvPr/>
        </p:nvSpPr>
        <p:spPr>
          <a:xfrm>
            <a:off x="8187055" y="3270250"/>
            <a:ext cx="2828290" cy="2675255"/>
          </a:xfrm>
          <a:prstGeom prst="rect">
            <a:avLst/>
          </a:prstGeom>
          <a:noFill/>
        </p:spPr>
        <p:txBody>
          <a:bodyPr wrap="square" lIns="91440" tIns="45720" rIns="91440" bIns="45720" rtlCol="0" anchor="t">
            <a:spAutoFit/>
          </a:bodyPr>
          <a:lstStyle/>
          <a:p>
            <a:pPr marL="0" indent="0">
              <a:lnSpc>
                <a:spcPct val="150000"/>
              </a:lnSpc>
              <a:buNone/>
            </a:pPr>
            <a:r>
              <a:rPr lang="en-US" sz="1400" dirty="0">
                <a:solidFill>
                  <a:srgbClr val="2C3741"/>
                </a:solidFill>
                <a:latin typeface="MiSans" pitchFamily="34" charset="-122"/>
                <a:ea typeface="MiSans" pitchFamily="34" charset="-122"/>
                <a:cs typeface="MiSans" pitchFamily="34" charset="-120"/>
              </a:rPr>
              <a:t>MongoDB không phù hợp với các ứng dụng cần độ chính xác cao trong giao dịch. Nó yêu cầu nhiều RAM và có khả năng mất dữ liệu khi mất điện đột ngột.</a:t>
            </a:r>
            <a:endParaRPr lang="en-US" sz="1600" dirty="0"/>
          </a:p>
        </p:txBody>
      </p:sp>
      <p:sp>
        <p:nvSpPr>
          <p:cNvPr id="23" name="Text 20"/>
          <p:cNvSpPr/>
          <p:nvPr/>
        </p:nvSpPr>
        <p:spPr>
          <a:xfrm>
            <a:off x="8187055" y="2642870"/>
            <a:ext cx="2828290" cy="64516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Nhược điểm của MongoDB</a:t>
            </a:r>
            <a:endParaRPr lang="en-US" sz="1600" dirty="0"/>
          </a:p>
        </p:txBody>
      </p:sp>
      <p:sp>
        <p:nvSpPr>
          <p:cNvPr id="24" name="Shape 21"/>
          <p:cNvSpPr/>
          <p:nvPr/>
        </p:nvSpPr>
        <p:spPr>
          <a:xfrm>
            <a:off x="9171305" y="1508125"/>
            <a:ext cx="859790" cy="904875"/>
          </a:xfrm>
          <a:prstGeom prst="ellipse">
            <a:avLst/>
          </a:prstGeom>
          <a:gradFill flip="none" rotWithShape="1">
            <a:gsLst>
              <a:gs pos="0">
                <a:srgbClr val="D3BDA6"/>
              </a:gs>
              <a:gs pos="100000">
                <a:srgbClr val="AB8A7D"/>
              </a:gs>
            </a:gsLst>
            <a:lin ang="2700000" scaled="1"/>
          </a:gradFill>
        </p:spPr>
      </p:sp>
      <p:sp>
        <p:nvSpPr>
          <p:cNvPr id="25" name="Text 22"/>
          <p:cNvSpPr/>
          <p:nvPr/>
        </p:nvSpPr>
        <p:spPr>
          <a:xfrm>
            <a:off x="9171305" y="1508125"/>
            <a:ext cx="859790" cy="904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23"/>
          <p:cNvSpPr/>
          <p:nvPr/>
        </p:nvSpPr>
        <p:spPr>
          <a:xfrm>
            <a:off x="9245600" y="1699895"/>
            <a:ext cx="710565" cy="521970"/>
          </a:xfrm>
          <a:prstGeom prst="rect">
            <a:avLst/>
          </a:prstGeom>
          <a:noFill/>
        </p:spPr>
        <p:txBody>
          <a:bodyPr wrap="square" lIns="91440" tIns="45720" rIns="91440" bIns="45720" rtlCol="0" anchor="t">
            <a:spAutoFit/>
          </a:bodyPr>
          <a:lstStyle/>
          <a:p>
            <a:pPr marL="0" indent="0">
              <a:lnSpc>
                <a:spcPct val="100000"/>
              </a:lnSpc>
              <a:buNone/>
            </a:pPr>
            <a:r>
              <a:rPr lang="en-US" sz="2800" b="1" dirty="0">
                <a:solidFill>
                  <a:srgbClr val="FFFFFF"/>
                </a:solidFill>
                <a:latin typeface="MiSans" pitchFamily="34" charset="-122"/>
                <a:ea typeface="MiSans" pitchFamily="34" charset="-122"/>
                <a:cs typeface="MiSans" pitchFamily="34" charset="-120"/>
              </a:rPr>
              <a:t>03</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93800" y="3584575"/>
            <a:ext cx="10761980" cy="459105"/>
          </a:xfrm>
          <a:custGeom>
            <a:avLst/>
            <a:gdLst/>
            <a:ahLst/>
            <a:cxnLst/>
            <a:rect l="l" t="t" r="r" b="b"/>
            <a:pathLst>
              <a:path w="10761980" h="459105">
                <a:moveTo>
                  <a:pt x="19068" y="91236"/>
                </a:moveTo>
                <a:lnTo>
                  <a:pt x="10357006" y="91236"/>
                </a:lnTo>
                <a:cubicBezTo>
                  <a:pt x="10367532" y="91236"/>
                  <a:pt x="10376074" y="82199"/>
                  <a:pt x="10376074" y="71065"/>
                </a:cubicBezTo>
                <a:lnTo>
                  <a:pt x="10376074" y="20196"/>
                </a:lnTo>
                <a:cubicBezTo>
                  <a:pt x="10376074" y="4820"/>
                  <a:pt x="10391720" y="-4907"/>
                  <a:pt x="10404420" y="2574"/>
                </a:cubicBezTo>
                <a:lnTo>
                  <a:pt x="10761980" y="213217"/>
                </a:lnTo>
                <a:cubicBezTo>
                  <a:pt x="10775021" y="220901"/>
                  <a:pt x="10775021" y="240778"/>
                  <a:pt x="10761980" y="248462"/>
                </a:cubicBezTo>
                <a:lnTo>
                  <a:pt x="10404420" y="459105"/>
                </a:lnTo>
                <a:cubicBezTo>
                  <a:pt x="10391720" y="466586"/>
                  <a:pt x="10376074" y="456858"/>
                  <a:pt x="10376074" y="441482"/>
                </a:cubicBezTo>
                <a:lnTo>
                  <a:pt x="10376074" y="390613"/>
                </a:lnTo>
                <a:cubicBezTo>
                  <a:pt x="10376074" y="379479"/>
                  <a:pt x="10367532" y="370442"/>
                  <a:pt x="10357006" y="370442"/>
                </a:cubicBezTo>
                <a:lnTo>
                  <a:pt x="19068" y="370442"/>
                </a:lnTo>
                <a:cubicBezTo>
                  <a:pt x="8542" y="370442"/>
                  <a:pt x="0" y="361405"/>
                  <a:pt x="0" y="350271"/>
                </a:cubicBezTo>
                <a:lnTo>
                  <a:pt x="0" y="111407"/>
                </a:lnTo>
                <a:cubicBezTo>
                  <a:pt x="0" y="100272"/>
                  <a:pt x="8542" y="91236"/>
                  <a:pt x="19068" y="91236"/>
                </a:cubicBezTo>
              </a:path>
            </a:pathLst>
          </a:custGeom>
          <a:solidFill>
            <a:srgbClr val="D3BDA6"/>
          </a:solidFill>
        </p:spPr>
      </p:sp>
      <p:sp>
        <p:nvSpPr>
          <p:cNvPr id="5" name="Text 3"/>
          <p:cNvSpPr/>
          <p:nvPr/>
        </p:nvSpPr>
        <p:spPr>
          <a:xfrm>
            <a:off x="1193800" y="3584575"/>
            <a:ext cx="10761980" cy="4591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313690" y="3083560"/>
            <a:ext cx="1388745" cy="1462405"/>
          </a:xfrm>
          <a:prstGeom prst="ellipse">
            <a:avLst/>
          </a:prstGeom>
          <a:solidFill>
            <a:srgbClr val="D3BDA6">
              <a:alpha val="23137"/>
            </a:srgbClr>
          </a:solidFill>
        </p:spPr>
      </p:sp>
      <p:sp>
        <p:nvSpPr>
          <p:cNvPr id="7" name="Text 5"/>
          <p:cNvSpPr/>
          <p:nvPr/>
        </p:nvSpPr>
        <p:spPr>
          <a:xfrm>
            <a:off x="313690" y="3083560"/>
            <a:ext cx="1388745" cy="14624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416560" y="3191510"/>
            <a:ext cx="1184910" cy="1247140"/>
          </a:xfrm>
          <a:prstGeom prst="ellipse">
            <a:avLst/>
          </a:prstGeom>
          <a:solidFill>
            <a:srgbClr val="D3BDA6"/>
          </a:solidFill>
        </p:spPr>
      </p:sp>
      <p:sp>
        <p:nvSpPr>
          <p:cNvPr id="9" name="Text 7"/>
          <p:cNvSpPr/>
          <p:nvPr/>
        </p:nvSpPr>
        <p:spPr>
          <a:xfrm>
            <a:off x="416560" y="3191510"/>
            <a:ext cx="1184910" cy="124714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0" name="Image 0" descr="https://kimi-img.moonshot.cn/pub/slides/slides_tmpl/image/25-09-28-15:22:11-d3ce48os8jdo4os5dda0.png"/>
          <p:cNvPicPr>
            <a:picLocks noChangeAspect="1"/>
          </p:cNvPicPr>
          <p:nvPr/>
        </p:nvPicPr>
        <p:blipFill>
          <a:blip r:embed="rId3"/>
          <a:stretch>
            <a:fillRect/>
          </a:stretch>
        </p:blipFill>
        <p:spPr>
          <a:xfrm>
            <a:off x="699135" y="3479800"/>
            <a:ext cx="658495" cy="694690"/>
          </a:xfrm>
          <a:prstGeom prst="rect">
            <a:avLst/>
          </a:prstGeom>
        </p:spPr>
      </p:pic>
      <p:pic>
        <p:nvPicPr>
          <p:cNvPr id="11" name="Image 1" descr="https://kimi-img.moonshot.cn/pub/slides/slides_tmpl/image/25-09-28-15:22:12-d3ce490s8jdo4os5ddbg.png"/>
          <p:cNvPicPr>
            <a:picLocks noChangeAspect="1"/>
          </p:cNvPicPr>
          <p:nvPr/>
        </p:nvPicPr>
        <p:blipFill>
          <a:blip r:embed="rId4"/>
          <a:srcRect l="40" r="40"/>
          <a:stretch>
            <a:fillRect/>
          </a:stretch>
        </p:blipFill>
        <p:spPr>
          <a:xfrm>
            <a:off x="-6985" y="4946015"/>
            <a:ext cx="1602105" cy="1936750"/>
          </a:xfrm>
          <a:prstGeom prst="rect">
            <a:avLst/>
          </a:prstGeom>
        </p:spPr>
      </p:pic>
      <p:sp>
        <p:nvSpPr>
          <p:cNvPr id="12" name="Text 8"/>
          <p:cNvSpPr/>
          <p:nvPr/>
        </p:nvSpPr>
        <p:spPr>
          <a:xfrm>
            <a:off x="667385" y="524510"/>
            <a:ext cx="8268335"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Đối chiếu Elasticsearch và MongoDB</a:t>
            </a:r>
            <a:endParaRPr lang="en-US" sz="1600" dirty="0"/>
          </a:p>
        </p:txBody>
      </p:sp>
      <p:sp>
        <p:nvSpPr>
          <p:cNvPr id="13" name="Shape 9"/>
          <p:cNvSpPr/>
          <p:nvPr/>
        </p:nvSpPr>
        <p:spPr>
          <a:xfrm>
            <a:off x="1193800" y="3584575"/>
            <a:ext cx="10391775" cy="459105"/>
          </a:xfrm>
          <a:prstGeom prst="rect">
            <a:avLst/>
          </a:prstGeom>
          <a:solidFill>
            <a:srgbClr val="D3BDA6">
              <a:alpha val="10196"/>
            </a:srgbClr>
          </a:solidFill>
        </p:spPr>
      </p:sp>
      <p:sp>
        <p:nvSpPr>
          <p:cNvPr id="14" name="Text 10"/>
          <p:cNvSpPr/>
          <p:nvPr/>
        </p:nvSpPr>
        <p:spPr>
          <a:xfrm>
            <a:off x="1193800" y="3584575"/>
            <a:ext cx="10391775" cy="4591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1"/>
          <p:cNvSpPr/>
          <p:nvPr/>
        </p:nvSpPr>
        <p:spPr>
          <a:xfrm flipV="1">
            <a:off x="1866900" y="1469390"/>
            <a:ext cx="0" cy="2160270"/>
          </a:xfrm>
          <a:prstGeom prst="straightConnector1">
            <a:avLst/>
          </a:prstGeom>
          <a:noFill/>
          <a:ln w="15875">
            <a:gradFill flip="none" rotWithShape="1">
              <a:gsLst>
                <a:gs pos="0">
                  <a:srgbClr val="D3BDA6">
                    <a:alpha val="0"/>
                  </a:srgbClr>
                </a:gs>
                <a:gs pos="100000">
                  <a:srgbClr val="D3BDA6"/>
                </a:gs>
              </a:gsLst>
              <a:lin ang="5400000" scaled="1"/>
            </a:gradFill>
            <a:prstDash val="solid"/>
            <a:headEnd type="none"/>
            <a:tailEnd type="oval"/>
          </a:ln>
        </p:spPr>
      </p:sp>
      <p:sp>
        <p:nvSpPr>
          <p:cNvPr id="16" name="Shape 12"/>
          <p:cNvSpPr/>
          <p:nvPr/>
        </p:nvSpPr>
        <p:spPr>
          <a:xfrm flipV="1">
            <a:off x="6574790" y="1469390"/>
            <a:ext cx="0" cy="2160270"/>
          </a:xfrm>
          <a:prstGeom prst="straightConnector1">
            <a:avLst/>
          </a:prstGeom>
          <a:noFill/>
          <a:ln w="15875">
            <a:gradFill flip="none" rotWithShape="1">
              <a:gsLst>
                <a:gs pos="0">
                  <a:srgbClr val="D3BDA6">
                    <a:alpha val="0"/>
                  </a:srgbClr>
                </a:gs>
                <a:gs pos="100000">
                  <a:srgbClr val="D3BDA6"/>
                </a:gs>
              </a:gsLst>
              <a:lin ang="5400000" scaled="1"/>
            </a:gradFill>
            <a:prstDash val="solid"/>
            <a:headEnd type="none"/>
            <a:tailEnd type="oval"/>
          </a:ln>
        </p:spPr>
      </p:sp>
      <p:sp>
        <p:nvSpPr>
          <p:cNvPr id="17" name="Shape 13"/>
          <p:cNvSpPr/>
          <p:nvPr/>
        </p:nvSpPr>
        <p:spPr>
          <a:xfrm>
            <a:off x="2914015" y="3957320"/>
            <a:ext cx="0" cy="2160905"/>
          </a:xfrm>
          <a:prstGeom prst="straightConnector1">
            <a:avLst/>
          </a:prstGeom>
          <a:noFill/>
          <a:ln w="15875">
            <a:gradFill flip="none" rotWithShape="1">
              <a:gsLst>
                <a:gs pos="0">
                  <a:srgbClr val="D3BDA6">
                    <a:alpha val="0"/>
                  </a:srgbClr>
                </a:gs>
                <a:gs pos="100000">
                  <a:srgbClr val="D3BDA6"/>
                </a:gs>
              </a:gsLst>
              <a:lin ang="5400000" scaled="1"/>
            </a:gradFill>
            <a:prstDash val="solid"/>
            <a:headEnd type="none"/>
            <a:tailEnd type="oval"/>
          </a:ln>
        </p:spPr>
      </p:sp>
      <p:sp>
        <p:nvSpPr>
          <p:cNvPr id="18" name="Shape 14"/>
          <p:cNvSpPr/>
          <p:nvPr/>
        </p:nvSpPr>
        <p:spPr>
          <a:xfrm>
            <a:off x="7373620" y="4041775"/>
            <a:ext cx="0" cy="2161540"/>
          </a:xfrm>
          <a:prstGeom prst="straightConnector1">
            <a:avLst/>
          </a:prstGeom>
          <a:noFill/>
          <a:ln w="15875">
            <a:gradFill flip="none" rotWithShape="1">
              <a:gsLst>
                <a:gs pos="0">
                  <a:srgbClr val="D3BDA6">
                    <a:alpha val="0"/>
                  </a:srgbClr>
                </a:gs>
                <a:gs pos="100000">
                  <a:srgbClr val="D3BDA6"/>
                </a:gs>
              </a:gsLst>
              <a:lin ang="5400000" scaled="1"/>
            </a:gradFill>
            <a:prstDash val="solid"/>
            <a:headEnd type="none"/>
            <a:tailEnd type="oval"/>
          </a:ln>
        </p:spPr>
      </p:sp>
      <p:sp>
        <p:nvSpPr>
          <p:cNvPr id="19" name="Text 15"/>
          <p:cNvSpPr/>
          <p:nvPr/>
        </p:nvSpPr>
        <p:spPr>
          <a:xfrm>
            <a:off x="2071370" y="1833245"/>
            <a:ext cx="4298950" cy="1487805"/>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chuyên về tìm kiếm và phân tích dữ liệu, trong khi MongoDB là để lưu trữ và truy vấn dữ liệu phi cấu trúc. Mỗi công nghệ phù hợp với một bài toán riêng.</a:t>
            </a:r>
            <a:endParaRPr lang="en-US" sz="1600" dirty="0"/>
          </a:p>
        </p:txBody>
      </p:sp>
      <p:sp>
        <p:nvSpPr>
          <p:cNvPr id="20" name="Text 16"/>
          <p:cNvSpPr/>
          <p:nvPr/>
        </p:nvSpPr>
        <p:spPr>
          <a:xfrm>
            <a:off x="2030730" y="1394460"/>
            <a:ext cx="4298950" cy="36830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Mục đích sử dụng</a:t>
            </a:r>
            <a:endParaRPr lang="en-US" sz="1600" dirty="0"/>
          </a:p>
        </p:txBody>
      </p:sp>
      <p:sp>
        <p:nvSpPr>
          <p:cNvPr id="21" name="Text 17"/>
          <p:cNvSpPr/>
          <p:nvPr/>
        </p:nvSpPr>
        <p:spPr>
          <a:xfrm>
            <a:off x="6881495" y="1908175"/>
            <a:ext cx="4298950" cy="1487805"/>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sử dụng index và shard để phân tán dữ liệu, trong khi MongoDB sử dụng collection và document BSON. Kiến trúc của Elasticsearch giúp nó mở rộng quy mô dễ dàng hơn.</a:t>
            </a:r>
            <a:endParaRPr lang="en-US" sz="1600" dirty="0"/>
          </a:p>
        </p:txBody>
      </p:sp>
      <p:sp>
        <p:nvSpPr>
          <p:cNvPr id="22" name="Text 18"/>
          <p:cNvSpPr/>
          <p:nvPr/>
        </p:nvSpPr>
        <p:spPr>
          <a:xfrm>
            <a:off x="6840855" y="1469390"/>
            <a:ext cx="4298950" cy="36830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Kiến trúc lưu trữ</a:t>
            </a:r>
            <a:endParaRPr lang="en-US" sz="1600" dirty="0"/>
          </a:p>
        </p:txBody>
      </p:sp>
      <p:sp>
        <p:nvSpPr>
          <p:cNvPr id="23" name="Text 19"/>
          <p:cNvSpPr/>
          <p:nvPr/>
        </p:nvSpPr>
        <p:spPr>
          <a:xfrm>
            <a:off x="3035300" y="4736465"/>
            <a:ext cx="4298950" cy="1487805"/>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mạnh về tìm kiếm full-text và hỗ trợ nhiều loại truy vấn phức tạp. MongoDB có tìm kiếm cơ bản và cần Atlas Search để mở rộng.</a:t>
            </a:r>
            <a:endParaRPr lang="en-US" sz="1600" dirty="0"/>
          </a:p>
        </p:txBody>
      </p:sp>
      <p:sp>
        <p:nvSpPr>
          <p:cNvPr id="24" name="Text 20"/>
          <p:cNvSpPr/>
          <p:nvPr/>
        </p:nvSpPr>
        <p:spPr>
          <a:xfrm>
            <a:off x="2994660" y="4297680"/>
            <a:ext cx="4298950" cy="36830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Khả năng tìm kiếm</a:t>
            </a:r>
            <a:endParaRPr lang="en-US" sz="1600" dirty="0"/>
          </a:p>
        </p:txBody>
      </p:sp>
      <p:sp>
        <p:nvSpPr>
          <p:cNvPr id="25" name="Text 21"/>
          <p:cNvSpPr/>
          <p:nvPr/>
        </p:nvSpPr>
        <p:spPr>
          <a:xfrm>
            <a:off x="7661910" y="4736465"/>
            <a:ext cx="4298950" cy="1487805"/>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tiêu tốn nhiều tài nguyên hơn, trong khi MongoDB nhẹ hơn và thân thiện với lập trình viên. MongoDB có giao diện trực quan và tài liệu hướng dẫn rõ ràng.</a:t>
            </a:r>
            <a:endParaRPr lang="en-US" sz="1600" dirty="0"/>
          </a:p>
        </p:txBody>
      </p:sp>
      <p:sp>
        <p:nvSpPr>
          <p:cNvPr id="26" name="Text 22"/>
          <p:cNvSpPr/>
          <p:nvPr/>
        </p:nvSpPr>
        <p:spPr>
          <a:xfrm>
            <a:off x="7621270" y="4297680"/>
            <a:ext cx="4298950" cy="36830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Tài nguyên và độ dễ dùng</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3-d3ce46os8jdo4os5dcsg.png"/>
          <p:cNvPicPr>
            <a:picLocks noChangeAspect="1"/>
          </p:cNvPicPr>
          <p:nvPr/>
        </p:nvPicPr>
        <p:blipFill>
          <a:blip r:embed="rId3"/>
          <a:srcRect l="5" r="5"/>
          <a:stretch>
            <a:fillRect/>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p:spPr>
      </p:sp>
      <p:sp>
        <p:nvSpPr>
          <p:cNvPr id="4" name="Text 1"/>
          <p:cNvSpPr/>
          <p:nvPr/>
        </p:nvSpPr>
        <p:spPr>
          <a:xfrm>
            <a:off x="5172075" y="1997710"/>
            <a:ext cx="988695" cy="7607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5092065" y="2949575"/>
            <a:ext cx="6986905" cy="1015365"/>
          </a:xfrm>
          <a:prstGeom prst="rect">
            <a:avLst/>
          </a:prstGeom>
          <a:noFill/>
        </p:spPr>
        <p:txBody>
          <a:bodyPr wrap="square" lIns="91440" tIns="45720" rIns="91440" bIns="45720" rtlCol="0" anchor="t"/>
          <a:lstStyle/>
          <a:p>
            <a:pPr marL="0" indent="0">
              <a:lnSpc>
                <a:spcPct val="100000"/>
              </a:lnSpc>
              <a:buNone/>
            </a:pPr>
            <a:r>
              <a:rPr lang="en-US" sz="4000" b="1" dirty="0">
                <a:solidFill>
                  <a:srgbClr val="212931"/>
                </a:solidFill>
                <a:latin typeface="MiSans" pitchFamily="34" charset="-122"/>
                <a:ea typeface="MiSans" pitchFamily="34" charset="-122"/>
                <a:cs typeface="MiSans" pitchFamily="34" charset="-120"/>
              </a:rPr>
              <a:t>Case study tìm kiếm nhạc</a:t>
            </a:r>
            <a:endParaRPr lang="en-US" sz="1600" dirty="0"/>
          </a:p>
        </p:txBody>
      </p:sp>
      <p:sp>
        <p:nvSpPr>
          <p:cNvPr id="6" name="Text 3"/>
          <p:cNvSpPr/>
          <p:nvPr/>
        </p:nvSpPr>
        <p:spPr>
          <a:xfrm>
            <a:off x="254000" y="2086610"/>
            <a:ext cx="3128010" cy="862965"/>
          </a:xfrm>
          <a:prstGeom prst="rect">
            <a:avLst/>
          </a:prstGeom>
          <a:noFill/>
        </p:spPr>
        <p:txBody>
          <a:bodyPr wrap="square" lIns="91440" tIns="45720" rIns="91440" bIns="45720" rtlCol="0" anchor="t"/>
          <a:lstStyle/>
          <a:p>
            <a:pPr marL="0" indent="0">
              <a:lnSpc>
                <a:spcPct val="100000"/>
              </a:lnSpc>
              <a:buNone/>
            </a:pPr>
            <a:r>
              <a:rPr lang="en-US" sz="16600" b="1" dirty="0">
                <a:solidFill>
                  <a:srgbClr val="FFFFFF"/>
                </a:solidFill>
                <a:latin typeface="MiSans" pitchFamily="34" charset="-122"/>
                <a:ea typeface="MiSans" pitchFamily="34" charset="-122"/>
                <a:cs typeface="MiSans" pitchFamily="34" charset="-120"/>
              </a:rPr>
              <a:t>04</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p:spPr>
      </p:sp>
      <p:sp>
        <p:nvSpPr>
          <p:cNvPr id="5" name="Text 3"/>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p:spPr>
      </p:sp>
      <p:sp>
        <p:nvSpPr>
          <p:cNvPr id="7" name="Text 5"/>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p:spPr>
      </p:sp>
      <p:sp>
        <p:nvSpPr>
          <p:cNvPr id="9" name="Text 7"/>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0" name="Image 0" descr="https://kimi-img.moonshot.cn/pub/slides/slides_tmpl/image/25-09-28-15:22:06-d3ce47gs8jdo4os5dd0g.png"/>
          <p:cNvPicPr>
            <a:picLocks noChangeAspect="1"/>
          </p:cNvPicPr>
          <p:nvPr/>
        </p:nvPicPr>
        <p:blipFill>
          <a:blip r:embed="rId3"/>
          <a:srcRect l="8" r="8"/>
          <a:stretch>
            <a:fillRect/>
          </a:stretch>
        </p:blipFill>
        <p:spPr>
          <a:xfrm>
            <a:off x="635000" y="1621790"/>
            <a:ext cx="11562080" cy="5192395"/>
          </a:xfrm>
          <a:prstGeom prst="rect">
            <a:avLst/>
          </a:prstGeom>
        </p:spPr>
      </p:pic>
      <p:pic>
        <p:nvPicPr>
          <p:cNvPr id="11" name="Image 1" descr="https://kimi-img.moonshot.cn/pub/slides/slides_tmpl/image/25-09-28-15:22:08-d3ce480s8jdo4os5dd3g.png"/>
          <p:cNvPicPr>
            <a:picLocks noChangeAspect="1"/>
          </p:cNvPicPr>
          <p:nvPr/>
        </p:nvPicPr>
        <p:blipFill>
          <a:blip r:embed="rId4"/>
          <a:srcRect t="5" b="5"/>
          <a:stretch>
            <a:fillRect/>
          </a:stretch>
        </p:blipFill>
        <p:spPr>
          <a:xfrm>
            <a:off x="7349490" y="2082165"/>
            <a:ext cx="5852160" cy="5187950"/>
          </a:xfrm>
          <a:prstGeom prst="rect">
            <a:avLst/>
          </a:prstGeom>
        </p:spPr>
      </p:pic>
      <p:sp>
        <p:nvSpPr>
          <p:cNvPr id="12" name="Shape 8"/>
          <p:cNvSpPr/>
          <p:nvPr/>
        </p:nvSpPr>
        <p:spPr>
          <a:xfrm>
            <a:off x="11456035" y="592138"/>
            <a:ext cx="351155" cy="43815"/>
          </a:xfrm>
          <a:prstGeom prst="roundRect">
            <a:avLst>
              <a:gd name="adj" fmla="val 50000"/>
            </a:avLst>
          </a:prstGeom>
          <a:solidFill>
            <a:srgbClr val="D3BDA6"/>
          </a:solidFill>
        </p:spPr>
      </p:sp>
      <p:sp>
        <p:nvSpPr>
          <p:cNvPr id="13" name="Text 9"/>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0"/>
          <p:cNvSpPr/>
          <p:nvPr/>
        </p:nvSpPr>
        <p:spPr>
          <a:xfrm>
            <a:off x="11456035" y="712153"/>
            <a:ext cx="351155" cy="43815"/>
          </a:xfrm>
          <a:prstGeom prst="roundRect">
            <a:avLst>
              <a:gd name="adj" fmla="val 50000"/>
            </a:avLst>
          </a:prstGeom>
          <a:solidFill>
            <a:srgbClr val="D3BDA6"/>
          </a:solidFill>
        </p:spPr>
      </p:sp>
      <p:sp>
        <p:nvSpPr>
          <p:cNvPr id="15" name="Text 11"/>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2"/>
          <p:cNvSpPr/>
          <p:nvPr/>
        </p:nvSpPr>
        <p:spPr>
          <a:xfrm>
            <a:off x="11456035" y="832168"/>
            <a:ext cx="351155" cy="43815"/>
          </a:xfrm>
          <a:prstGeom prst="roundRect">
            <a:avLst>
              <a:gd name="adj" fmla="val 50000"/>
            </a:avLst>
          </a:prstGeom>
          <a:solidFill>
            <a:srgbClr val="D3BDA6"/>
          </a:solidFill>
        </p:spPr>
      </p:sp>
      <p:sp>
        <p:nvSpPr>
          <p:cNvPr id="17" name="Text 13"/>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4"/>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Bài toán và mục tiêu hệ thống</a:t>
            </a:r>
            <a:endParaRPr lang="en-US" sz="1600" dirty="0"/>
          </a:p>
        </p:txBody>
      </p:sp>
      <p:sp>
        <p:nvSpPr>
          <p:cNvPr id="19"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p:spPr>
      </p:sp>
      <p:sp>
        <p:nvSpPr>
          <p:cNvPr id="20" name="Text 16"/>
          <p:cNvSpPr/>
          <p:nvPr/>
        </p:nvSpPr>
        <p:spPr>
          <a:xfrm>
            <a:off x="-16510" y="6572885"/>
            <a:ext cx="12221210" cy="2851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7"/>
          <p:cNvSpPr/>
          <p:nvPr/>
        </p:nvSpPr>
        <p:spPr>
          <a:xfrm>
            <a:off x="933450" y="2562225"/>
            <a:ext cx="2692400" cy="706755"/>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MiSans" pitchFamily="34" charset="-122"/>
                <a:ea typeface="MiSans" pitchFamily="34" charset="-122"/>
                <a:cs typeface="MiSans" pitchFamily="34" charset="-120"/>
              </a:rPr>
              <a:t>Thực trạng tìm kiếm nhạc</a:t>
            </a:r>
            <a:endParaRPr lang="en-US" sz="1600" dirty="0"/>
          </a:p>
        </p:txBody>
      </p:sp>
      <p:sp>
        <p:nvSpPr>
          <p:cNvPr id="22" name="Text 18"/>
          <p:cNvSpPr/>
          <p:nvPr/>
        </p:nvSpPr>
        <p:spPr>
          <a:xfrm>
            <a:off x="933450" y="3281045"/>
            <a:ext cx="2691507" cy="232791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000000"/>
                </a:solidFill>
                <a:latin typeface="MiSans" pitchFamily="34" charset="-122"/>
                <a:ea typeface="MiSans" pitchFamily="34" charset="-122"/>
                <a:cs typeface="MiSans" pitchFamily="34" charset="-120"/>
              </a:rPr>
              <a:t>Các nền tảng nghe nhạc trực tuyến thường gặp thách thức về tốc độ tìm kiếm và chính xác. Với lượng dữ liệu lớn, tìm kiếm chậm và không hỗ trợ lỗi chính tả hoặc gợi ý.</a:t>
            </a:r>
            <a:endParaRPr lang="en-US" sz="1600" dirty="0"/>
          </a:p>
        </p:txBody>
      </p:sp>
      <p:sp>
        <p:nvSpPr>
          <p:cNvPr id="23" name="Text 19"/>
          <p:cNvSpPr/>
          <p:nvPr/>
        </p:nvSpPr>
        <p:spPr>
          <a:xfrm>
            <a:off x="3879850" y="3009265"/>
            <a:ext cx="2692400" cy="706755"/>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MiSans" pitchFamily="34" charset="-122"/>
                <a:ea typeface="MiSans" pitchFamily="34" charset="-122"/>
                <a:cs typeface="MiSans" pitchFamily="34" charset="-120"/>
              </a:rPr>
              <a:t>Mục tiêu hệ thống</a:t>
            </a:r>
            <a:endParaRPr lang="en-US" sz="1600" dirty="0"/>
          </a:p>
        </p:txBody>
      </p:sp>
      <p:sp>
        <p:nvSpPr>
          <p:cNvPr id="24" name="Text 20"/>
          <p:cNvSpPr/>
          <p:nvPr/>
        </p:nvSpPr>
        <p:spPr>
          <a:xfrm>
            <a:off x="3879850" y="3728085"/>
            <a:ext cx="2691507" cy="2327910"/>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000000"/>
                </a:solidFill>
                <a:latin typeface="MiSans" pitchFamily="34" charset="-122"/>
                <a:ea typeface="MiSans" pitchFamily="34" charset="-122"/>
                <a:cs typeface="MiSans" pitchFamily="34" charset="-120"/>
              </a:rPr>
              <a:t>Xây dựng hệ thống tìm kiếm nhạc thông minh với Elasticsearch, hỗ trợ full-text search, autocomplete, fuzzy search và xếp hạng theo độ liên quan. Hệ thống cần mở rộng linh hoạt và phản hồi thời gian thực.</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kimi-img.moonshot.cn/pub/slides/slides_tmpl/image/25-09-28-15:22:10-d3ce48gs8jdo4os5dd8g.png"/>
          <p:cNvPicPr>
            <a:picLocks noChangeAspect="1"/>
          </p:cNvPicPr>
          <p:nvPr/>
        </p:nvPicPr>
        <p:blipFill>
          <a:blip r:embed="rId3"/>
          <a:srcRect l="45" r="45"/>
          <a:stretch>
            <a:fillRect/>
          </a:stretch>
        </p:blipFill>
        <p:spPr>
          <a:xfrm>
            <a:off x="10485755" y="5457825"/>
            <a:ext cx="1733550" cy="1400175"/>
          </a:xfrm>
          <a:prstGeom prst="rect">
            <a:avLst/>
          </a:prstGeom>
        </p:spPr>
      </p:pic>
      <p:sp>
        <p:nvSpPr>
          <p:cNvPr id="5" name="Shape 2"/>
          <p:cNvSpPr/>
          <p:nvPr/>
        </p:nvSpPr>
        <p:spPr>
          <a:xfrm>
            <a:off x="474345" y="2915285"/>
            <a:ext cx="8759190" cy="1793875"/>
          </a:xfrm>
          <a:prstGeom prst="rect">
            <a:avLst/>
          </a:prstGeom>
          <a:solidFill>
            <a:srgbClr val="D3BDA6"/>
          </a:solidFill>
        </p:spPr>
      </p:sp>
      <p:sp>
        <p:nvSpPr>
          <p:cNvPr id="6" name="Text 3"/>
          <p:cNvSpPr/>
          <p:nvPr/>
        </p:nvSpPr>
        <p:spPr>
          <a:xfrm>
            <a:off x="474345" y="2915285"/>
            <a:ext cx="8759190" cy="1793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Pipeline xử lý dữ liệu</a:t>
            </a:r>
            <a:endParaRPr lang="en-US" sz="1600" dirty="0"/>
          </a:p>
        </p:txBody>
      </p:sp>
      <p:sp>
        <p:nvSpPr>
          <p:cNvPr id="8" name="Shape 5"/>
          <p:cNvSpPr/>
          <p:nvPr/>
        </p:nvSpPr>
        <p:spPr>
          <a:xfrm rot="7680000">
            <a:off x="8562166" y="3341075"/>
            <a:ext cx="3813585" cy="1926033"/>
          </a:xfrm>
          <a:custGeom>
            <a:avLst/>
            <a:gdLst/>
            <a:ahLst/>
            <a:cxnLst/>
            <a:rect l="l" t="t" r="r" b="b"/>
            <a:pathLst>
              <a:path w="3813585" h="1926033">
                <a:moveTo>
                  <a:pt x="98" y="1926033"/>
                </a:moveTo>
                <a:cubicBezTo>
                  <a:pt x="-10456" y="872487"/>
                  <a:pt x="835156" y="10225"/>
                  <a:pt x="1888054" y="90"/>
                </a:cubicBezTo>
                <a:cubicBezTo>
                  <a:pt x="2940953" y="-10045"/>
                  <a:pt x="3803452" y="835327"/>
                  <a:pt x="3813585" y="1888453"/>
                </a:cubicBezTo>
              </a:path>
            </a:pathLst>
          </a:custGeom>
          <a:solidFill>
            <a:srgbClr val="000000">
              <a:alpha val="0"/>
            </a:srgbClr>
          </a:solidFill>
          <a:ln w="9525">
            <a:solidFill>
              <a:srgbClr val="EDE5DC"/>
            </a:solidFill>
            <a:prstDash val="solid"/>
          </a:ln>
        </p:spPr>
      </p:sp>
      <p:sp>
        <p:nvSpPr>
          <p:cNvPr id="9" name="Text 6"/>
          <p:cNvSpPr/>
          <p:nvPr/>
        </p:nvSpPr>
        <p:spPr>
          <a:xfrm rot="7680000">
            <a:off x="8562166" y="3341075"/>
            <a:ext cx="3813585" cy="1926033"/>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7"/>
          <p:cNvSpPr/>
          <p:nvPr/>
        </p:nvSpPr>
        <p:spPr>
          <a:xfrm rot="20400000">
            <a:off x="8430704" y="5117262"/>
            <a:ext cx="202156" cy="202202"/>
          </a:xfrm>
          <a:prstGeom prst="ellipse">
            <a:avLst/>
          </a:prstGeom>
          <a:solidFill>
            <a:srgbClr val="D3BDA6"/>
          </a:solidFill>
        </p:spPr>
      </p:sp>
      <p:sp>
        <p:nvSpPr>
          <p:cNvPr id="11" name="Text 8"/>
          <p:cNvSpPr/>
          <p:nvPr/>
        </p:nvSpPr>
        <p:spPr>
          <a:xfrm rot="20400000">
            <a:off x="8430704" y="5117262"/>
            <a:ext cx="202156" cy="202202"/>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9"/>
          <p:cNvSpPr/>
          <p:nvPr/>
        </p:nvSpPr>
        <p:spPr>
          <a:xfrm rot="20400000">
            <a:off x="10836719" y="2149227"/>
            <a:ext cx="140486" cy="140518"/>
          </a:xfrm>
          <a:prstGeom prst="ellipse">
            <a:avLst/>
          </a:prstGeom>
          <a:solidFill>
            <a:srgbClr val="E4D7CA"/>
          </a:solidFill>
        </p:spPr>
      </p:sp>
      <p:sp>
        <p:nvSpPr>
          <p:cNvPr id="13" name="Text 10"/>
          <p:cNvSpPr/>
          <p:nvPr/>
        </p:nvSpPr>
        <p:spPr>
          <a:xfrm rot="20400000">
            <a:off x="10836719" y="2149227"/>
            <a:ext cx="140486" cy="140518"/>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Image 1" descr="https://kimi-img.moonshot.cn/pub/slides/slides_tmpl/image/25-09-28-15:22:12-d3ce490s8jdo4os5ddb0.png"/>
          <p:cNvPicPr>
            <a:picLocks noChangeAspect="1"/>
          </p:cNvPicPr>
          <p:nvPr/>
        </p:nvPicPr>
        <p:blipFill>
          <a:blip r:embed="rId4"/>
          <a:srcRect l="17" r="17"/>
          <a:stretch>
            <a:fillRect/>
          </a:stretch>
        </p:blipFill>
        <p:spPr>
          <a:xfrm>
            <a:off x="8029401" y="2003292"/>
            <a:ext cx="3454397" cy="3454885"/>
          </a:xfrm>
          <a:prstGeom prst="rect">
            <a:avLst/>
          </a:prstGeom>
        </p:spPr>
      </p:pic>
      <p:sp>
        <p:nvSpPr>
          <p:cNvPr id="15" name="Shape 11"/>
          <p:cNvSpPr/>
          <p:nvPr/>
        </p:nvSpPr>
        <p:spPr>
          <a:xfrm>
            <a:off x="7825139" y="2088446"/>
            <a:ext cx="467485" cy="467592"/>
          </a:xfrm>
          <a:prstGeom prst="ellipse">
            <a:avLst/>
          </a:prstGeom>
          <a:solidFill>
            <a:srgbClr val="EDE5DC"/>
          </a:solidFill>
        </p:spPr>
      </p:sp>
      <p:sp>
        <p:nvSpPr>
          <p:cNvPr id="16" name="Text 12"/>
          <p:cNvSpPr/>
          <p:nvPr/>
        </p:nvSpPr>
        <p:spPr>
          <a:xfrm>
            <a:off x="7825139" y="2088446"/>
            <a:ext cx="467485" cy="467592"/>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3"/>
          <p:cNvSpPr/>
          <p:nvPr/>
        </p:nvSpPr>
        <p:spPr>
          <a:xfrm>
            <a:off x="7531833" y="1505310"/>
            <a:ext cx="4448631" cy="4449345"/>
          </a:xfrm>
          <a:prstGeom prst="ellipse">
            <a:avLst/>
          </a:prstGeom>
          <a:solidFill>
            <a:srgbClr val="000000">
              <a:alpha val="0"/>
            </a:srgbClr>
          </a:solidFill>
          <a:ln w="9525">
            <a:solidFill>
              <a:srgbClr val="EDE5DC"/>
            </a:solidFill>
            <a:prstDash val="solid"/>
          </a:ln>
        </p:spPr>
      </p:sp>
      <p:sp>
        <p:nvSpPr>
          <p:cNvPr id="18" name="Text 14"/>
          <p:cNvSpPr/>
          <p:nvPr/>
        </p:nvSpPr>
        <p:spPr>
          <a:xfrm>
            <a:off x="7531833" y="1505310"/>
            <a:ext cx="4448631" cy="44493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5"/>
          <p:cNvSpPr/>
          <p:nvPr/>
        </p:nvSpPr>
        <p:spPr>
          <a:xfrm>
            <a:off x="11263894" y="5250258"/>
            <a:ext cx="140486" cy="140518"/>
          </a:xfrm>
          <a:prstGeom prst="ellipse">
            <a:avLst/>
          </a:prstGeom>
          <a:solidFill>
            <a:srgbClr val="E4D7CA"/>
          </a:solidFill>
        </p:spPr>
      </p:sp>
      <p:sp>
        <p:nvSpPr>
          <p:cNvPr id="20" name="Text 16"/>
          <p:cNvSpPr/>
          <p:nvPr/>
        </p:nvSpPr>
        <p:spPr>
          <a:xfrm>
            <a:off x="11263894" y="5250258"/>
            <a:ext cx="140486" cy="14051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7"/>
          <p:cNvSpPr/>
          <p:nvPr/>
        </p:nvSpPr>
        <p:spPr>
          <a:xfrm>
            <a:off x="667385" y="5182235"/>
            <a:ext cx="6896735" cy="1059180"/>
          </a:xfrm>
          <a:prstGeom prst="rect">
            <a:avLst/>
          </a:prstGeom>
          <a:noFill/>
        </p:spPr>
        <p:txBody>
          <a:bodyPr wrap="square" lIns="91440" tIns="45720" rIns="91440" bIns="45720" rtlCol="0" anchor="t">
            <a:spAutoFit/>
          </a:bodyPr>
          <a:lstStyle/>
          <a:p>
            <a:pPr marL="0" indent="0">
              <a:lnSpc>
                <a:spcPct val="150000"/>
              </a:lnSpc>
              <a:buNone/>
            </a:pPr>
            <a:r>
              <a:rPr lang="en-US" sz="1400" dirty="0">
                <a:solidFill>
                  <a:srgbClr val="2C3741"/>
                </a:solidFill>
                <a:latin typeface="MiSans" pitchFamily="34" charset="-122"/>
                <a:ea typeface="MiSans" pitchFamily="34" charset="-122"/>
                <a:cs typeface="MiSans" pitchFamily="34" charset="-120"/>
              </a:rPr>
              <a:t>Sử dụng script Python để import dữ liệu từ file JSON vào Elasticsearch. Dữ liệu được lập chỉ mục tự động và sẵn sàng cho truy vấn.</a:t>
            </a:r>
            <a:endParaRPr lang="en-US" sz="1600" dirty="0"/>
          </a:p>
        </p:txBody>
      </p:sp>
      <p:sp>
        <p:nvSpPr>
          <p:cNvPr id="22" name="Text 18"/>
          <p:cNvSpPr/>
          <p:nvPr/>
        </p:nvSpPr>
        <p:spPr>
          <a:xfrm>
            <a:off x="667385" y="4844415"/>
            <a:ext cx="6822000" cy="36830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2C3741"/>
                </a:solidFill>
                <a:latin typeface="MiSans" pitchFamily="34" charset="-122"/>
                <a:ea typeface="MiSans" pitchFamily="34" charset="-122"/>
                <a:cs typeface="MiSans" pitchFamily="34" charset="-120"/>
              </a:rPr>
              <a:t>Import dữ liệu</a:t>
            </a:r>
            <a:endParaRPr lang="en-US" sz="1600" dirty="0"/>
          </a:p>
        </p:txBody>
      </p:sp>
      <p:sp>
        <p:nvSpPr>
          <p:cNvPr id="23" name="Text 19"/>
          <p:cNvSpPr/>
          <p:nvPr/>
        </p:nvSpPr>
        <p:spPr>
          <a:xfrm>
            <a:off x="667385" y="1798955"/>
            <a:ext cx="6896735" cy="1059180"/>
          </a:xfrm>
          <a:prstGeom prst="rect">
            <a:avLst/>
          </a:prstGeom>
          <a:noFill/>
        </p:spPr>
        <p:txBody>
          <a:bodyPr wrap="square" lIns="91440" tIns="45720" rIns="91440" bIns="45720" rtlCol="0" anchor="t">
            <a:spAutoFit/>
          </a:bodyPr>
          <a:lstStyle/>
          <a:p>
            <a:pPr marL="0" indent="0">
              <a:lnSpc>
                <a:spcPct val="150000"/>
              </a:lnSpc>
              <a:buNone/>
            </a:pPr>
            <a:r>
              <a:rPr lang="en-US" sz="1400" dirty="0">
                <a:solidFill>
                  <a:srgbClr val="2C3741"/>
                </a:solidFill>
                <a:latin typeface="MiSans" pitchFamily="34" charset="-122"/>
                <a:ea typeface="MiSans" pitchFamily="34" charset="-122"/>
                <a:cs typeface="MiSans" pitchFamily="34" charset="-120"/>
              </a:rPr>
              <a:t>Cài đặt Docker và triển khai Elasticsearch. Sử dụng dữ liệu từ Million Song Subset để xây dựng hệ thống tìm kiếm nhạc.</a:t>
            </a:r>
            <a:endParaRPr lang="en-US" sz="1600" dirty="0"/>
          </a:p>
        </p:txBody>
      </p:sp>
      <p:sp>
        <p:nvSpPr>
          <p:cNvPr id="24" name="Text 20"/>
          <p:cNvSpPr/>
          <p:nvPr/>
        </p:nvSpPr>
        <p:spPr>
          <a:xfrm>
            <a:off x="667385" y="1494155"/>
            <a:ext cx="6822000" cy="36830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2C3741"/>
                </a:solidFill>
                <a:latin typeface="MiSans" pitchFamily="34" charset="-122"/>
                <a:ea typeface="MiSans" pitchFamily="34" charset="-122"/>
                <a:cs typeface="MiSans" pitchFamily="34" charset="-120"/>
              </a:rPr>
              <a:t>Cài đặt và triển khai</a:t>
            </a:r>
            <a:endParaRPr lang="en-US" sz="1600" dirty="0"/>
          </a:p>
        </p:txBody>
      </p:sp>
      <p:sp>
        <p:nvSpPr>
          <p:cNvPr id="25" name="Text 21"/>
          <p:cNvSpPr/>
          <p:nvPr/>
        </p:nvSpPr>
        <p:spPr>
          <a:xfrm>
            <a:off x="667385" y="3435350"/>
            <a:ext cx="6896735" cy="1059180"/>
          </a:xfrm>
          <a:prstGeom prst="rect">
            <a:avLst/>
          </a:prstGeom>
          <a:noFill/>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122"/>
                <a:ea typeface="MiSans" pitchFamily="34" charset="-122"/>
                <a:cs typeface="MiSans" pitchFamily="34" charset="-120"/>
              </a:rPr>
              <a:t>Phân tích và làm sạch dữ liệu, tách các trường như title, artist, duration, tempo, year và text. Xuất dữ liệu ra file JSON để import vào Elasticsearch.</a:t>
            </a:r>
            <a:endParaRPr lang="en-US" sz="1600" dirty="0"/>
          </a:p>
        </p:txBody>
      </p:sp>
      <p:sp>
        <p:nvSpPr>
          <p:cNvPr id="26" name="Text 22"/>
          <p:cNvSpPr/>
          <p:nvPr/>
        </p:nvSpPr>
        <p:spPr>
          <a:xfrm>
            <a:off x="667385" y="3072130"/>
            <a:ext cx="6822000" cy="368300"/>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FFFFFF"/>
                </a:solidFill>
                <a:latin typeface="MiSans" pitchFamily="34" charset="-122"/>
                <a:ea typeface="MiSans" pitchFamily="34" charset="-122"/>
                <a:cs typeface="MiSans" pitchFamily="34" charset="-120"/>
              </a:rPr>
              <a:t>Tiền xử lý dữ liệu</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p:spPr>
      </p:sp>
      <p:sp>
        <p:nvSpPr>
          <p:cNvPr id="5" name="Text 3"/>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p:spPr>
      </p:sp>
      <p:sp>
        <p:nvSpPr>
          <p:cNvPr id="7" name="Text 5"/>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p:spPr>
      </p:sp>
      <p:sp>
        <p:nvSpPr>
          <p:cNvPr id="9" name="Text 7"/>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p:spPr>
      </p:sp>
      <p:sp>
        <p:nvSpPr>
          <p:cNvPr id="11" name="Text 9"/>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p:spPr>
      </p:sp>
      <p:sp>
        <p:nvSpPr>
          <p:cNvPr id="13" name="Text 11"/>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p:spPr>
      </p:sp>
      <p:sp>
        <p:nvSpPr>
          <p:cNvPr id="15" name="Text 13"/>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Text 14"/>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Kết quả hiệu năng và đánh giá</a:t>
            </a:r>
            <a:endParaRPr lang="en-US" sz="1600" dirty="0"/>
          </a:p>
        </p:txBody>
      </p:sp>
      <p:sp>
        <p:nvSpPr>
          <p:cNvPr id="17" name="Shape 15"/>
          <p:cNvSpPr/>
          <p:nvPr/>
        </p:nvSpPr>
        <p:spPr>
          <a:xfrm>
            <a:off x="-16510" y="4744085"/>
            <a:ext cx="12221210" cy="2113915"/>
          </a:xfrm>
          <a:prstGeom prst="rect">
            <a:avLst/>
          </a:prstGeom>
          <a:gradFill flip="none" rotWithShape="1">
            <a:gsLst>
              <a:gs pos="0">
                <a:srgbClr val="D3BDA6"/>
              </a:gs>
              <a:gs pos="100000">
                <a:srgbClr val="BFA492"/>
              </a:gs>
            </a:gsLst>
            <a:lin ang="2700000" scaled="1"/>
          </a:gradFill>
        </p:spPr>
      </p:sp>
      <p:sp>
        <p:nvSpPr>
          <p:cNvPr id="18" name="Text 16"/>
          <p:cNvSpPr/>
          <p:nvPr/>
        </p:nvSpPr>
        <p:spPr>
          <a:xfrm>
            <a:off x="-16510" y="4744085"/>
            <a:ext cx="12221210" cy="21139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a:off x="1623060" y="1609725"/>
            <a:ext cx="8945880" cy="670560"/>
          </a:xfrm>
          <a:prstGeom prst="round2SameRect">
            <a:avLst/>
          </a:prstGeom>
          <a:solidFill>
            <a:srgbClr val="D3BDA6"/>
          </a:solidFill>
        </p:spPr>
      </p:sp>
      <p:sp>
        <p:nvSpPr>
          <p:cNvPr id="20" name="Text 18"/>
          <p:cNvSpPr/>
          <p:nvPr/>
        </p:nvSpPr>
        <p:spPr>
          <a:xfrm>
            <a:off x="1623060" y="1609725"/>
            <a:ext cx="8945880" cy="6705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a:off x="1623060" y="2422525"/>
            <a:ext cx="8945880" cy="3520440"/>
          </a:xfrm>
          <a:prstGeom prst="round2SameRect">
            <a:avLst>
              <a:gd name="adj1" fmla="val 0"/>
              <a:gd name="adj2" fmla="val 0"/>
            </a:avLst>
          </a:prstGeom>
          <a:solidFill>
            <a:srgbClr val="FFFFFF"/>
          </a:solidFill>
          <a:ln w="19050">
            <a:solidFill>
              <a:srgbClr val="D3BDA6"/>
            </a:solidFill>
            <a:prstDash val="solid"/>
          </a:ln>
        </p:spPr>
      </p:sp>
      <p:sp>
        <p:nvSpPr>
          <p:cNvPr id="22" name="Text 20"/>
          <p:cNvSpPr/>
          <p:nvPr/>
        </p:nvSpPr>
        <p:spPr>
          <a:xfrm>
            <a:off x="1623060" y="2422525"/>
            <a:ext cx="8945880" cy="352044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1"/>
          <p:cNvSpPr/>
          <p:nvPr/>
        </p:nvSpPr>
        <p:spPr>
          <a:xfrm>
            <a:off x="1983423" y="4143375"/>
            <a:ext cx="8225155" cy="1529715"/>
          </a:xfrm>
          <a:prstGeom prst="rect">
            <a:avLst/>
          </a:prstGeom>
          <a:noFill/>
        </p:spPr>
        <p:txBody>
          <a:bodyPr wrap="square" lIns="91440" tIns="45720" rIns="91440" bIns="45720" rtlCol="0" anchor="t">
            <a:spAutoFit/>
          </a:bodyPr>
          <a:lstStyle/>
          <a:p>
            <a:pPr marL="0" indent="0">
              <a:lnSpc>
                <a:spcPct val="130000"/>
              </a:lnSpc>
              <a:buNone/>
            </a:pPr>
            <a:r>
              <a:rPr lang="en-US" sz="1800" dirty="0">
                <a:solidFill>
                  <a:srgbClr val="000000"/>
                </a:solidFill>
                <a:latin typeface="MiSans" pitchFamily="34" charset="-122"/>
                <a:ea typeface="MiSans" pitchFamily="34" charset="-122"/>
                <a:cs typeface="MiSans" pitchFamily="34" charset="-120"/>
              </a:rPr>
              <a:t>Elasticsearch đạt hiệu năng cao trong tìm kiếm dữ liệu âm nhạc. Truy vấn 80.802 bài hát chỉ mất 20 ms, và hệ thống có khả năng mở rộng tốt. Kết quả truy vấn chính xác và phản hồi nhanh chóng, phù hợp với ứng dụng tìm kiếm nhạc.</a:t>
            </a:r>
            <a:endParaRPr lang="en-US" sz="1600" dirty="0"/>
          </a:p>
        </p:txBody>
      </p:sp>
      <p:sp>
        <p:nvSpPr>
          <p:cNvPr id="24" name="Text 22"/>
          <p:cNvSpPr/>
          <p:nvPr/>
        </p:nvSpPr>
        <p:spPr>
          <a:xfrm>
            <a:off x="1983423" y="1725295"/>
            <a:ext cx="8225155" cy="460375"/>
          </a:xfrm>
          <a:prstGeom prst="rect">
            <a:avLst/>
          </a:prstGeom>
          <a:noFill/>
        </p:spPr>
        <p:txBody>
          <a:bodyPr wrap="square" lIns="91440" tIns="45720" rIns="91440" bIns="45720" rtlCol="0" anchor="t">
            <a:spAutoFit/>
          </a:bodyPr>
          <a:lstStyle/>
          <a:p>
            <a:pPr marL="0" indent="0">
              <a:lnSpc>
                <a:spcPct val="100000"/>
              </a:lnSpc>
              <a:buNone/>
            </a:pPr>
            <a:r>
              <a:rPr lang="en-US" sz="2400" b="1" dirty="0">
                <a:solidFill>
                  <a:srgbClr val="FFFFFF"/>
                </a:solidFill>
                <a:latin typeface="MiSans" pitchFamily="34" charset="-122"/>
                <a:ea typeface="MiSans" pitchFamily="34" charset="-122"/>
                <a:cs typeface="MiSans" pitchFamily="34" charset="-120"/>
              </a:rPr>
              <a:t>Kết quả và đánh giá</a:t>
            </a:r>
            <a:endParaRPr lang="en-US" sz="1600" dirty="0"/>
          </a:p>
        </p:txBody>
      </p:sp>
      <p:pic>
        <p:nvPicPr>
          <p:cNvPr id="25" name="Image 0" descr="https://kimi-img.moonshot.cn/pub/slides/slides_tmpl/image/25-09-28-15:22:05-d3ce478s8jdo4os5dcug.png"/>
          <p:cNvPicPr>
            <a:picLocks noChangeAspect="1"/>
          </p:cNvPicPr>
          <p:nvPr/>
        </p:nvPicPr>
        <p:blipFill>
          <a:blip r:embed="rId3"/>
          <a:srcRect t="230" b="230"/>
          <a:stretch>
            <a:fillRect/>
          </a:stretch>
        </p:blipFill>
        <p:spPr>
          <a:xfrm>
            <a:off x="2056130" y="2620645"/>
            <a:ext cx="8183245" cy="1371600"/>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3-d3ce46os8jdo4os5dcsg.png"/>
          <p:cNvPicPr>
            <a:picLocks noChangeAspect="1"/>
          </p:cNvPicPr>
          <p:nvPr/>
        </p:nvPicPr>
        <p:blipFill>
          <a:blip r:embed="rId3"/>
          <a:srcRect l="5" r="5"/>
          <a:stretch>
            <a:fillRect/>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p:spPr>
      </p:sp>
      <p:sp>
        <p:nvSpPr>
          <p:cNvPr id="4" name="Text 1"/>
          <p:cNvSpPr/>
          <p:nvPr/>
        </p:nvSpPr>
        <p:spPr>
          <a:xfrm>
            <a:off x="5172075" y="1997710"/>
            <a:ext cx="988695" cy="7607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5092065" y="2949575"/>
            <a:ext cx="6986905" cy="1015365"/>
          </a:xfrm>
          <a:prstGeom prst="rect">
            <a:avLst/>
          </a:prstGeom>
          <a:noFill/>
        </p:spPr>
        <p:txBody>
          <a:bodyPr wrap="square" lIns="91440" tIns="45720" rIns="91440" bIns="45720" rtlCol="0" anchor="t"/>
          <a:lstStyle/>
          <a:p>
            <a:pPr marL="0" indent="0">
              <a:lnSpc>
                <a:spcPct val="100000"/>
              </a:lnSpc>
              <a:buNone/>
            </a:pPr>
            <a:r>
              <a:rPr lang="en-US" sz="4000" b="1" dirty="0">
                <a:solidFill>
                  <a:srgbClr val="212931"/>
                </a:solidFill>
                <a:latin typeface="MiSans" pitchFamily="34" charset="-122"/>
                <a:ea typeface="MiSans" pitchFamily="34" charset="-122"/>
                <a:cs typeface="MiSans" pitchFamily="34" charset="-120"/>
              </a:rPr>
              <a:t>Triển khai trên MongoDB</a:t>
            </a:r>
            <a:endParaRPr lang="en-US" sz="1600" dirty="0"/>
          </a:p>
        </p:txBody>
      </p:sp>
      <p:sp>
        <p:nvSpPr>
          <p:cNvPr id="6" name="Text 3"/>
          <p:cNvSpPr/>
          <p:nvPr/>
        </p:nvSpPr>
        <p:spPr>
          <a:xfrm>
            <a:off x="254000" y="2086610"/>
            <a:ext cx="3128010" cy="862965"/>
          </a:xfrm>
          <a:prstGeom prst="rect">
            <a:avLst/>
          </a:prstGeom>
          <a:noFill/>
        </p:spPr>
        <p:txBody>
          <a:bodyPr wrap="square" lIns="91440" tIns="45720" rIns="91440" bIns="45720" rtlCol="0" anchor="t"/>
          <a:lstStyle/>
          <a:p>
            <a:pPr marL="0" indent="0">
              <a:lnSpc>
                <a:spcPct val="100000"/>
              </a:lnSpc>
              <a:buNone/>
            </a:pPr>
            <a:r>
              <a:rPr lang="en-US" sz="16600" b="1" dirty="0">
                <a:solidFill>
                  <a:srgbClr val="FFFFFF"/>
                </a:solidFill>
                <a:latin typeface="MiSans" pitchFamily="34" charset="-122"/>
                <a:ea typeface="MiSans" pitchFamily="34" charset="-122"/>
                <a:cs typeface="MiSans" pitchFamily="34" charset="-120"/>
              </a:rPr>
              <a:t>05</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p:spPr>
      </p:sp>
      <p:sp>
        <p:nvSpPr>
          <p:cNvPr id="5" name="Text 3"/>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p:spPr>
      </p:sp>
      <p:sp>
        <p:nvSpPr>
          <p:cNvPr id="7" name="Text 5"/>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p:spPr>
      </p:sp>
      <p:sp>
        <p:nvSpPr>
          <p:cNvPr id="9" name="Text 7"/>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p:spPr>
      </p:sp>
      <p:sp>
        <p:nvSpPr>
          <p:cNvPr id="11" name="Text 9"/>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p:spPr>
      </p:sp>
      <p:sp>
        <p:nvSpPr>
          <p:cNvPr id="13" name="Text 11"/>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p:spPr>
      </p:sp>
      <p:sp>
        <p:nvSpPr>
          <p:cNvPr id="15" name="Text 13"/>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Text 14"/>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Cài đặt và nạp dữ liệu</a:t>
            </a:r>
            <a:endParaRPr lang="en-US" sz="1600" dirty="0"/>
          </a:p>
        </p:txBody>
      </p:sp>
      <p:sp>
        <p:nvSpPr>
          <p:cNvPr id="17"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p:spPr>
      </p:sp>
      <p:sp>
        <p:nvSpPr>
          <p:cNvPr id="18" name="Text 16"/>
          <p:cNvSpPr/>
          <p:nvPr/>
        </p:nvSpPr>
        <p:spPr>
          <a:xfrm>
            <a:off x="-16510" y="6572885"/>
            <a:ext cx="12221210" cy="2851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a:off x="829945" y="1796415"/>
            <a:ext cx="4509135" cy="4420870"/>
          </a:xfrm>
          <a:prstGeom prst="roundRect">
            <a:avLst>
              <a:gd name="adj" fmla="val 6829"/>
            </a:avLst>
          </a:prstGeom>
          <a:solidFill>
            <a:srgbClr val="D3BDA6"/>
          </a:solidFill>
        </p:spPr>
      </p:sp>
      <p:sp>
        <p:nvSpPr>
          <p:cNvPr id="20" name="Text 18"/>
          <p:cNvSpPr/>
          <p:nvPr/>
        </p:nvSpPr>
        <p:spPr>
          <a:xfrm>
            <a:off x="829945" y="1796415"/>
            <a:ext cx="4509135" cy="442087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0" descr="https://kimi-img.moonshot.cn/pub/slides/slides_tmpl/image/25-09-28-15:22:05-d3ce478s8jdo4os5dcu0.png"/>
          <p:cNvPicPr>
            <a:picLocks noChangeAspect="1"/>
          </p:cNvPicPr>
          <p:nvPr/>
        </p:nvPicPr>
        <p:blipFill>
          <a:blip r:embed="rId3"/>
          <a:stretch>
            <a:fillRect/>
          </a:stretch>
        </p:blipFill>
        <p:spPr>
          <a:xfrm>
            <a:off x="3938905" y="1920875"/>
            <a:ext cx="1304290" cy="1036320"/>
          </a:xfrm>
          <a:prstGeom prst="rect">
            <a:avLst/>
          </a:prstGeom>
        </p:spPr>
      </p:pic>
      <p:sp>
        <p:nvSpPr>
          <p:cNvPr id="22" name="Shape 19"/>
          <p:cNvSpPr/>
          <p:nvPr/>
        </p:nvSpPr>
        <p:spPr>
          <a:xfrm>
            <a:off x="1014095" y="2801620"/>
            <a:ext cx="4140835" cy="3225800"/>
          </a:xfrm>
          <a:prstGeom prst="roundRect">
            <a:avLst>
              <a:gd name="adj" fmla="val 6829"/>
            </a:avLst>
          </a:prstGeom>
          <a:solidFill>
            <a:srgbClr val="FFFFFF"/>
          </a:solidFill>
        </p:spPr>
      </p:sp>
      <p:sp>
        <p:nvSpPr>
          <p:cNvPr id="23" name="Text 20"/>
          <p:cNvSpPr/>
          <p:nvPr/>
        </p:nvSpPr>
        <p:spPr>
          <a:xfrm>
            <a:off x="1014095" y="2801620"/>
            <a:ext cx="4140835" cy="32258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Text 21"/>
          <p:cNvSpPr/>
          <p:nvPr/>
        </p:nvSpPr>
        <p:spPr>
          <a:xfrm>
            <a:off x="1195705" y="1984375"/>
            <a:ext cx="2902585" cy="829945"/>
          </a:xfrm>
          <a:prstGeom prst="rect">
            <a:avLst/>
          </a:prstGeom>
          <a:noFill/>
        </p:spPr>
        <p:txBody>
          <a:bodyPr wrap="square" lIns="91440" tIns="45720" rIns="91440" bIns="45720" rtlCol="0" anchor="t">
            <a:spAutoFit/>
          </a:bodyPr>
          <a:lstStyle/>
          <a:p>
            <a:pPr marL="0" indent="0">
              <a:lnSpc>
                <a:spcPct val="100000"/>
              </a:lnSpc>
              <a:buNone/>
            </a:pPr>
            <a:r>
              <a:rPr lang="en-US" sz="2400" b="1" dirty="0">
                <a:solidFill>
                  <a:srgbClr val="FFFFFF"/>
                </a:solidFill>
                <a:latin typeface="MiSans" pitchFamily="34" charset="-122"/>
                <a:ea typeface="MiSans" pitchFamily="34" charset="-122"/>
                <a:cs typeface="MiSans" pitchFamily="34" charset="-120"/>
              </a:rPr>
              <a:t>Cài đặt MongoDB</a:t>
            </a:r>
            <a:endParaRPr lang="en-US" sz="1600" dirty="0"/>
          </a:p>
        </p:txBody>
      </p:sp>
      <p:sp>
        <p:nvSpPr>
          <p:cNvPr id="25" name="Text 22"/>
          <p:cNvSpPr/>
          <p:nvPr/>
        </p:nvSpPr>
        <p:spPr>
          <a:xfrm>
            <a:off x="1195705" y="2924175"/>
            <a:ext cx="3778250" cy="2968625"/>
          </a:xfrm>
          <a:prstGeom prst="rect">
            <a:avLst/>
          </a:prstGeom>
          <a:noFill/>
        </p:spPr>
        <p:txBody>
          <a:bodyPr wrap="square" lIns="91440" tIns="45720" rIns="91440" bIns="45720" rtlCol="0" anchor="t">
            <a:spAutoFit/>
          </a:bodyPr>
          <a:lstStyle/>
          <a:p>
            <a:pPr marL="0" indent="0">
              <a:lnSpc>
                <a:spcPct val="130000"/>
              </a:lnSpc>
              <a:buNone/>
            </a:pPr>
            <a:r>
              <a:rPr lang="en-US" sz="1800" dirty="0">
                <a:solidFill>
                  <a:srgbClr val="000000"/>
                </a:solidFill>
                <a:latin typeface="MiSans" pitchFamily="34" charset="-122"/>
                <a:ea typeface="MiSans" pitchFamily="34" charset="-122"/>
                <a:cs typeface="MiSans" pitchFamily="34" charset="-120"/>
              </a:rPr>
              <a:t>Cài đặt MongoDB Community Edition và khởi tạo collection musicpile. Sử dụng script Python để đọc file JSON đã tiền xử lý và import dữ liệu vào MongoDB.</a:t>
            </a:r>
            <a:endParaRPr lang="en-US" sz="1600" dirty="0"/>
          </a:p>
        </p:txBody>
      </p:sp>
      <p:sp>
        <p:nvSpPr>
          <p:cNvPr id="26" name="Shape 23"/>
          <p:cNvSpPr/>
          <p:nvPr/>
        </p:nvSpPr>
        <p:spPr>
          <a:xfrm>
            <a:off x="6047105" y="1796415"/>
            <a:ext cx="4509135" cy="4420870"/>
          </a:xfrm>
          <a:prstGeom prst="roundRect">
            <a:avLst>
              <a:gd name="adj" fmla="val 6829"/>
            </a:avLst>
          </a:prstGeom>
          <a:solidFill>
            <a:srgbClr val="D3BDA6"/>
          </a:solidFill>
        </p:spPr>
      </p:sp>
      <p:sp>
        <p:nvSpPr>
          <p:cNvPr id="27" name="Text 24"/>
          <p:cNvSpPr/>
          <p:nvPr/>
        </p:nvSpPr>
        <p:spPr>
          <a:xfrm>
            <a:off x="6047105" y="1796415"/>
            <a:ext cx="4509135" cy="442087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8" name="Image 1" descr="https://kimi-img.moonshot.cn/pub/slides/slides_tmpl/image/25-09-28-15:22:05-d3ce478s8jdo4os5dcv0.png"/>
          <p:cNvPicPr>
            <a:picLocks noChangeAspect="1"/>
          </p:cNvPicPr>
          <p:nvPr/>
        </p:nvPicPr>
        <p:blipFill>
          <a:blip r:embed="rId4"/>
          <a:stretch>
            <a:fillRect/>
          </a:stretch>
        </p:blipFill>
        <p:spPr>
          <a:xfrm>
            <a:off x="9154795" y="1920875"/>
            <a:ext cx="1304290" cy="1036320"/>
          </a:xfrm>
          <a:prstGeom prst="rect">
            <a:avLst/>
          </a:prstGeom>
        </p:spPr>
      </p:pic>
      <p:sp>
        <p:nvSpPr>
          <p:cNvPr id="29" name="Shape 25"/>
          <p:cNvSpPr/>
          <p:nvPr/>
        </p:nvSpPr>
        <p:spPr>
          <a:xfrm>
            <a:off x="6231255" y="2801620"/>
            <a:ext cx="4140835" cy="3225800"/>
          </a:xfrm>
          <a:prstGeom prst="roundRect">
            <a:avLst>
              <a:gd name="adj" fmla="val 6829"/>
            </a:avLst>
          </a:prstGeom>
          <a:solidFill>
            <a:srgbClr val="FFFFFF"/>
          </a:solidFill>
        </p:spPr>
      </p:sp>
      <p:sp>
        <p:nvSpPr>
          <p:cNvPr id="30" name="Text 26"/>
          <p:cNvSpPr/>
          <p:nvPr/>
        </p:nvSpPr>
        <p:spPr>
          <a:xfrm>
            <a:off x="6231255" y="2801620"/>
            <a:ext cx="4140835" cy="32258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Text 27"/>
          <p:cNvSpPr/>
          <p:nvPr/>
        </p:nvSpPr>
        <p:spPr>
          <a:xfrm>
            <a:off x="6412865" y="1984375"/>
            <a:ext cx="2902585" cy="829945"/>
          </a:xfrm>
          <a:prstGeom prst="rect">
            <a:avLst/>
          </a:prstGeom>
          <a:noFill/>
        </p:spPr>
        <p:txBody>
          <a:bodyPr wrap="square" lIns="91440" tIns="45720" rIns="91440" bIns="45720" rtlCol="0" anchor="t">
            <a:spAutoFit/>
          </a:bodyPr>
          <a:lstStyle/>
          <a:p>
            <a:pPr marL="0" indent="0">
              <a:lnSpc>
                <a:spcPct val="100000"/>
              </a:lnSpc>
              <a:buNone/>
            </a:pPr>
            <a:r>
              <a:rPr lang="en-US" sz="2400" b="1" dirty="0">
                <a:solidFill>
                  <a:srgbClr val="FFFFFF"/>
                </a:solidFill>
                <a:latin typeface="MiSans" pitchFamily="34" charset="-122"/>
                <a:ea typeface="MiSans" pitchFamily="34" charset="-122"/>
                <a:cs typeface="MiSans" pitchFamily="34" charset="-120"/>
              </a:rPr>
              <a:t>Kiểm tra dữ liệu</a:t>
            </a:r>
            <a:endParaRPr lang="en-US" sz="1600" dirty="0"/>
          </a:p>
        </p:txBody>
      </p:sp>
      <p:sp>
        <p:nvSpPr>
          <p:cNvPr id="32" name="Text 28"/>
          <p:cNvSpPr/>
          <p:nvPr/>
        </p:nvSpPr>
        <p:spPr>
          <a:xfrm>
            <a:off x="6412865" y="2924175"/>
            <a:ext cx="3778250" cy="2968625"/>
          </a:xfrm>
          <a:prstGeom prst="rect">
            <a:avLst/>
          </a:prstGeom>
          <a:noFill/>
        </p:spPr>
        <p:txBody>
          <a:bodyPr wrap="square" lIns="91440" tIns="45720" rIns="91440" bIns="45720" rtlCol="0" anchor="t">
            <a:spAutoFit/>
          </a:bodyPr>
          <a:lstStyle/>
          <a:p>
            <a:pPr marL="0" indent="0">
              <a:lnSpc>
                <a:spcPct val="130000"/>
              </a:lnSpc>
              <a:buNone/>
            </a:pPr>
            <a:r>
              <a:rPr lang="en-US" sz="1800" dirty="0">
                <a:solidFill>
                  <a:srgbClr val="000000"/>
                </a:solidFill>
                <a:latin typeface="MiSans" pitchFamily="34" charset="-122"/>
                <a:ea typeface="MiSans" pitchFamily="34" charset="-122"/>
                <a:cs typeface="MiSans" pitchFamily="34" charset="-120"/>
              </a:rPr>
              <a:t>Kiểm tra dữ liệu đã import trên MongoDB Compass hoặc shell. Thực hiện các truy vấn cơ bản như count và find để đảm bảo dữ liệu chính xác.</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kimi-img.moonshot.cn/pub/slides/slides_tmpl/image/25-09-28-15:22:17-d3ce4a8s8jdo4os5ddig.jpeg"/>
          <p:cNvPicPr>
            <a:picLocks noChangeAspect="1"/>
          </p:cNvPicPr>
          <p:nvPr/>
        </p:nvPicPr>
        <p:blipFill>
          <a:blip r:embed="rId3"/>
          <a:srcRect l="28012" t="7813" r="22500" b="7813"/>
          <a:stretch>
            <a:fillRect/>
          </a:stretch>
        </p:blipFill>
        <p:spPr>
          <a:xfrm>
            <a:off x="7106285" y="0"/>
            <a:ext cx="5085715" cy="6858000"/>
          </a:xfrm>
          <a:prstGeom prst="rect">
            <a:avLst/>
          </a:prstGeom>
        </p:spPr>
      </p:pic>
      <p:sp>
        <p:nvSpPr>
          <p:cNvPr id="5" name="Shape 2"/>
          <p:cNvSpPr/>
          <p:nvPr/>
        </p:nvSpPr>
        <p:spPr>
          <a:xfrm>
            <a:off x="7106285" y="0"/>
            <a:ext cx="5085715" cy="6858000"/>
          </a:xfrm>
          <a:prstGeom prst="rect">
            <a:avLst/>
          </a:prstGeom>
          <a:solidFill>
            <a:srgbClr val="D3BDA6">
              <a:alpha val="90980"/>
            </a:srgbClr>
          </a:solidFill>
        </p:spPr>
      </p:sp>
      <p:sp>
        <p:nvSpPr>
          <p:cNvPr id="6" name="Text 3"/>
          <p:cNvSpPr/>
          <p:nvPr/>
        </p:nvSpPr>
        <p:spPr>
          <a:xfrm>
            <a:off x="7106285" y="0"/>
            <a:ext cx="5085715" cy="68580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7466965" y="1288415"/>
            <a:ext cx="4198205" cy="623570"/>
          </a:xfrm>
          <a:prstGeom prst="rect">
            <a:avLst/>
          </a:prstGeom>
          <a:noFill/>
        </p:spPr>
        <p:txBody>
          <a:bodyPr wrap="square" lIns="91440" tIns="45720" rIns="91440" bIns="45720" rtlCol="0" anchor="t"/>
          <a:lstStyle/>
          <a:p>
            <a:pPr marL="0" indent="0">
              <a:lnSpc>
                <a:spcPct val="100000"/>
              </a:lnSpc>
              <a:buNone/>
            </a:pPr>
            <a:r>
              <a:rPr lang="en-US" sz="2400" b="1" dirty="0">
                <a:solidFill>
                  <a:srgbClr val="FFFFFF"/>
                </a:solidFill>
                <a:latin typeface="MiSans" pitchFamily="34" charset="-122"/>
                <a:ea typeface="MiSans" pitchFamily="34" charset="-122"/>
                <a:cs typeface="MiSans" pitchFamily="34" charset="-120"/>
              </a:rPr>
              <a:t>Truy vấn tìm kiếm văn bản</a:t>
            </a:r>
            <a:endParaRPr lang="en-US" sz="1600" dirty="0"/>
          </a:p>
        </p:txBody>
      </p:sp>
      <p:sp>
        <p:nvSpPr>
          <p:cNvPr id="8" name="Text 5"/>
          <p:cNvSpPr/>
          <p:nvPr/>
        </p:nvSpPr>
        <p:spPr>
          <a:xfrm>
            <a:off x="7466965" y="1760220"/>
            <a:ext cx="4198205" cy="1982470"/>
          </a:xfrm>
          <a:prstGeom prst="rect">
            <a:avLst/>
          </a:prstGeom>
          <a:noFill/>
        </p:spPr>
        <p:txBody>
          <a:bodyPr wrap="square" lIns="91440" tIns="45720" rIns="91440" bIns="45720" rtlCol="0" anchor="t"/>
          <a:lstStyle/>
          <a:p>
            <a:pPr marL="0" indent="0">
              <a:lnSpc>
                <a:spcPct val="150000"/>
              </a:lnSpc>
              <a:buNone/>
            </a:pPr>
            <a:r>
              <a:rPr lang="en-US" sz="1400" dirty="0">
                <a:solidFill>
                  <a:srgbClr val="FFFFFF"/>
                </a:solidFill>
                <a:latin typeface="MiSans" pitchFamily="34" charset="-122"/>
                <a:ea typeface="MiSans" pitchFamily="34" charset="-122"/>
                <a:cs typeface="MiSans" pitchFamily="34" charset="-120"/>
              </a:rPr>
              <a:t>Thực hiện truy vấn tìm kiếm văn bản với MongoDB, ví dụ tìm kiếm từ khóa 'Love'. So sánh hiệu năng tìm kiếm với Elasticsearch.</a:t>
            </a:r>
            <a:endParaRPr lang="en-US" sz="1600" dirty="0"/>
          </a:p>
        </p:txBody>
      </p:sp>
      <p:sp>
        <p:nvSpPr>
          <p:cNvPr id="9" name="Text 6"/>
          <p:cNvSpPr/>
          <p:nvPr/>
        </p:nvSpPr>
        <p:spPr>
          <a:xfrm>
            <a:off x="7525165" y="3986530"/>
            <a:ext cx="4198205" cy="623570"/>
          </a:xfrm>
          <a:prstGeom prst="rect">
            <a:avLst/>
          </a:prstGeom>
          <a:noFill/>
        </p:spPr>
        <p:txBody>
          <a:bodyPr wrap="square" lIns="91440" tIns="45720" rIns="91440" bIns="45720" rtlCol="0" anchor="t"/>
          <a:lstStyle/>
          <a:p>
            <a:pPr marL="0" indent="0">
              <a:lnSpc>
                <a:spcPct val="100000"/>
              </a:lnSpc>
              <a:buNone/>
            </a:pPr>
            <a:r>
              <a:rPr lang="en-US" sz="2400" b="1" dirty="0">
                <a:solidFill>
                  <a:srgbClr val="FFFFFF"/>
                </a:solidFill>
                <a:latin typeface="MiSans" pitchFamily="34" charset="-122"/>
                <a:ea typeface="MiSans" pitchFamily="34" charset="-122"/>
                <a:cs typeface="MiSans" pitchFamily="34" charset="-120"/>
              </a:rPr>
              <a:t>Kết luận so sánh</a:t>
            </a:r>
            <a:endParaRPr lang="en-US" sz="1600" dirty="0"/>
          </a:p>
        </p:txBody>
      </p:sp>
      <p:sp>
        <p:nvSpPr>
          <p:cNvPr id="10" name="Text 7"/>
          <p:cNvSpPr/>
          <p:nvPr/>
        </p:nvSpPr>
        <p:spPr>
          <a:xfrm>
            <a:off x="7525165" y="4458335"/>
            <a:ext cx="4198205" cy="1982470"/>
          </a:xfrm>
          <a:prstGeom prst="rect">
            <a:avLst/>
          </a:prstGeom>
          <a:noFill/>
        </p:spPr>
        <p:txBody>
          <a:bodyPr wrap="square" lIns="91440" tIns="45720" rIns="91440" bIns="45720" rtlCol="0" anchor="t"/>
          <a:lstStyle/>
          <a:p>
            <a:pPr marL="0" indent="0">
              <a:lnSpc>
                <a:spcPct val="150000"/>
              </a:lnSpc>
              <a:buNone/>
            </a:pPr>
            <a:r>
              <a:rPr lang="en-US" sz="1400" dirty="0">
                <a:solidFill>
                  <a:srgbClr val="FFFFFF"/>
                </a:solidFill>
                <a:latin typeface="MiSans" pitchFamily="34" charset="-122"/>
                <a:ea typeface="MiSans" pitchFamily="34" charset="-122"/>
                <a:cs typeface="MiSans" pitchFamily="34" charset="-120"/>
              </a:rPr>
              <a:t>MongoDB phù hợp với lưu trữ dữ liệu, nhưng chậm hơn Elasticsearch trong tìm kiếm phức tạp. Elasticsearch lý tưởng cho ứng dụng cần tốc độ tìm kiếm cao và hỗ trợ nhiều tính năng.</a:t>
            </a:r>
            <a:endParaRPr lang="en-US" sz="1600" dirty="0"/>
          </a:p>
        </p:txBody>
      </p:sp>
      <p:sp>
        <p:nvSpPr>
          <p:cNvPr id="11" name="Shape 8"/>
          <p:cNvSpPr/>
          <p:nvPr/>
        </p:nvSpPr>
        <p:spPr>
          <a:xfrm>
            <a:off x="6315563" y="3986823"/>
            <a:ext cx="1014730" cy="1014730"/>
          </a:xfrm>
          <a:prstGeom prst="ellipse">
            <a:avLst/>
          </a:prstGeom>
          <a:solidFill>
            <a:srgbClr val="865F24"/>
          </a:solidFill>
          <a:ln w="31750">
            <a:solidFill>
              <a:srgbClr val="FFFFFF"/>
            </a:solidFill>
            <a:prstDash val="solid"/>
          </a:ln>
        </p:spPr>
      </p:sp>
      <p:sp>
        <p:nvSpPr>
          <p:cNvPr id="12" name="Text 9"/>
          <p:cNvSpPr/>
          <p:nvPr/>
        </p:nvSpPr>
        <p:spPr>
          <a:xfrm>
            <a:off x="6315563" y="3986823"/>
            <a:ext cx="1014730" cy="10147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0"/>
          <p:cNvSpPr/>
          <p:nvPr/>
        </p:nvSpPr>
        <p:spPr>
          <a:xfrm rot="5400000">
            <a:off x="7325750" y="4431183"/>
            <a:ext cx="146173" cy="126011"/>
          </a:xfrm>
          <a:prstGeom prst="triangle">
            <a:avLst/>
          </a:prstGeom>
          <a:solidFill>
            <a:srgbClr val="FFFFFF"/>
          </a:solidFill>
        </p:spPr>
      </p:sp>
      <p:sp>
        <p:nvSpPr>
          <p:cNvPr id="14" name="Text 11"/>
          <p:cNvSpPr/>
          <p:nvPr/>
        </p:nvSpPr>
        <p:spPr>
          <a:xfrm rot="5400000">
            <a:off x="7325750" y="4431183"/>
            <a:ext cx="146173" cy="12601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2"/>
          <p:cNvSpPr/>
          <p:nvPr/>
        </p:nvSpPr>
        <p:spPr>
          <a:xfrm>
            <a:off x="6316833" y="1288553"/>
            <a:ext cx="1014730" cy="1014730"/>
          </a:xfrm>
          <a:prstGeom prst="ellipse">
            <a:avLst/>
          </a:prstGeom>
          <a:solidFill>
            <a:srgbClr val="865F24"/>
          </a:solidFill>
          <a:ln w="31750">
            <a:solidFill>
              <a:srgbClr val="FFFFFF"/>
            </a:solidFill>
            <a:prstDash val="solid"/>
          </a:ln>
        </p:spPr>
      </p:sp>
      <p:sp>
        <p:nvSpPr>
          <p:cNvPr id="16" name="Text 13"/>
          <p:cNvSpPr/>
          <p:nvPr/>
        </p:nvSpPr>
        <p:spPr>
          <a:xfrm>
            <a:off x="6316833" y="1288553"/>
            <a:ext cx="1014730" cy="10147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rot="5400000">
            <a:off x="7327020" y="1732913"/>
            <a:ext cx="146173" cy="126011"/>
          </a:xfrm>
          <a:prstGeom prst="triangle">
            <a:avLst/>
          </a:prstGeom>
          <a:solidFill>
            <a:srgbClr val="FFFFFF"/>
          </a:solidFill>
        </p:spPr>
      </p:sp>
      <p:sp>
        <p:nvSpPr>
          <p:cNvPr id="18" name="Text 15"/>
          <p:cNvSpPr/>
          <p:nvPr/>
        </p:nvSpPr>
        <p:spPr>
          <a:xfrm rot="5400000">
            <a:off x="7327020" y="1732913"/>
            <a:ext cx="146173" cy="12601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6"/>
          <p:cNvSpPr/>
          <p:nvPr/>
        </p:nvSpPr>
        <p:spPr>
          <a:xfrm>
            <a:off x="6632314" y="1621539"/>
            <a:ext cx="359932" cy="359932"/>
          </a:xfrm>
          <a:custGeom>
            <a:avLst/>
            <a:gdLst/>
            <a:ahLst/>
            <a:cxnLst/>
            <a:rect l="l" t="t" r="r" b="b"/>
            <a:pathLst>
              <a:path w="359932" h="359932">
                <a:moveTo>
                  <a:pt x="197963" y="323939"/>
                </a:moveTo>
                <a:cubicBezTo>
                  <a:pt x="197963" y="359932"/>
                  <a:pt x="197963" y="359932"/>
                  <a:pt x="197963" y="359932"/>
                </a:cubicBezTo>
                <a:cubicBezTo>
                  <a:pt x="161969" y="359932"/>
                  <a:pt x="161969" y="359932"/>
                  <a:pt x="161969" y="359932"/>
                </a:cubicBezTo>
                <a:cubicBezTo>
                  <a:pt x="161969" y="323939"/>
                  <a:pt x="161969" y="323939"/>
                  <a:pt x="161969" y="323939"/>
                </a:cubicBezTo>
                <a:cubicBezTo>
                  <a:pt x="17997" y="323939"/>
                  <a:pt x="17997" y="323939"/>
                  <a:pt x="17997" y="323939"/>
                </a:cubicBezTo>
                <a:cubicBezTo>
                  <a:pt x="8998" y="323939"/>
                  <a:pt x="0" y="314941"/>
                  <a:pt x="0" y="305942"/>
                </a:cubicBezTo>
                <a:cubicBezTo>
                  <a:pt x="0" y="53990"/>
                  <a:pt x="0" y="53990"/>
                  <a:pt x="0" y="53990"/>
                </a:cubicBezTo>
                <a:cubicBezTo>
                  <a:pt x="359932" y="53990"/>
                  <a:pt x="359932" y="53990"/>
                  <a:pt x="359932" y="53990"/>
                </a:cubicBezTo>
                <a:cubicBezTo>
                  <a:pt x="359932" y="305942"/>
                  <a:pt x="359932" y="305942"/>
                  <a:pt x="359932" y="305942"/>
                </a:cubicBezTo>
                <a:cubicBezTo>
                  <a:pt x="359932" y="314941"/>
                  <a:pt x="350934" y="323939"/>
                  <a:pt x="341935" y="323939"/>
                </a:cubicBezTo>
                <a:lnTo>
                  <a:pt x="197963" y="323939"/>
                </a:lnTo>
                <a:close/>
                <a:moveTo>
                  <a:pt x="35993" y="287946"/>
                </a:moveTo>
                <a:cubicBezTo>
                  <a:pt x="323939" y="287946"/>
                  <a:pt x="323939" y="287946"/>
                  <a:pt x="323939" y="287946"/>
                </a:cubicBezTo>
                <a:cubicBezTo>
                  <a:pt x="323939" y="89983"/>
                  <a:pt x="323939" y="89983"/>
                  <a:pt x="323939" y="89983"/>
                </a:cubicBezTo>
                <a:cubicBezTo>
                  <a:pt x="35993" y="89983"/>
                  <a:pt x="35993" y="89983"/>
                  <a:pt x="35993" y="89983"/>
                </a:cubicBezTo>
                <a:lnTo>
                  <a:pt x="35993" y="287946"/>
                </a:lnTo>
                <a:close/>
                <a:moveTo>
                  <a:pt x="197963" y="125976"/>
                </a:moveTo>
                <a:cubicBezTo>
                  <a:pt x="287946" y="125976"/>
                  <a:pt x="287946" y="125976"/>
                  <a:pt x="287946" y="125976"/>
                </a:cubicBezTo>
                <a:cubicBezTo>
                  <a:pt x="287946" y="161969"/>
                  <a:pt x="287946" y="161969"/>
                  <a:pt x="287946" y="161969"/>
                </a:cubicBezTo>
                <a:cubicBezTo>
                  <a:pt x="197963" y="161969"/>
                  <a:pt x="197963" y="161969"/>
                  <a:pt x="197963" y="161969"/>
                </a:cubicBezTo>
                <a:lnTo>
                  <a:pt x="197963" y="125976"/>
                </a:lnTo>
                <a:close/>
                <a:moveTo>
                  <a:pt x="197963" y="197963"/>
                </a:moveTo>
                <a:cubicBezTo>
                  <a:pt x="287946" y="197963"/>
                  <a:pt x="287946" y="197963"/>
                  <a:pt x="287946" y="197963"/>
                </a:cubicBezTo>
                <a:cubicBezTo>
                  <a:pt x="287946" y="233956"/>
                  <a:pt x="287946" y="233956"/>
                  <a:pt x="287946" y="233956"/>
                </a:cubicBezTo>
                <a:cubicBezTo>
                  <a:pt x="197963" y="233956"/>
                  <a:pt x="197963" y="233956"/>
                  <a:pt x="197963" y="233956"/>
                </a:cubicBezTo>
                <a:lnTo>
                  <a:pt x="197963" y="197963"/>
                </a:lnTo>
                <a:close/>
                <a:moveTo>
                  <a:pt x="125976" y="125976"/>
                </a:moveTo>
                <a:cubicBezTo>
                  <a:pt x="125976" y="179966"/>
                  <a:pt x="125976" y="179966"/>
                  <a:pt x="125976" y="179966"/>
                </a:cubicBezTo>
                <a:cubicBezTo>
                  <a:pt x="179966" y="179966"/>
                  <a:pt x="179966" y="179966"/>
                  <a:pt x="179966" y="179966"/>
                </a:cubicBezTo>
                <a:cubicBezTo>
                  <a:pt x="179966" y="211460"/>
                  <a:pt x="157470" y="233956"/>
                  <a:pt x="125976" y="233956"/>
                </a:cubicBezTo>
                <a:cubicBezTo>
                  <a:pt x="94482" y="233956"/>
                  <a:pt x="71986" y="211460"/>
                  <a:pt x="71986" y="179966"/>
                </a:cubicBezTo>
                <a:cubicBezTo>
                  <a:pt x="71986" y="148472"/>
                  <a:pt x="94482" y="125976"/>
                  <a:pt x="125976" y="125976"/>
                </a:cubicBezTo>
                <a:close/>
                <a:moveTo>
                  <a:pt x="0" y="0"/>
                </a:moveTo>
                <a:cubicBezTo>
                  <a:pt x="359932" y="0"/>
                  <a:pt x="359932" y="0"/>
                  <a:pt x="359932" y="0"/>
                </a:cubicBezTo>
                <a:cubicBezTo>
                  <a:pt x="359932" y="35993"/>
                  <a:pt x="359932" y="35993"/>
                  <a:pt x="359932" y="35993"/>
                </a:cubicBezTo>
                <a:cubicBezTo>
                  <a:pt x="0" y="35993"/>
                  <a:pt x="0" y="35993"/>
                  <a:pt x="0" y="35993"/>
                </a:cubicBezTo>
                <a:lnTo>
                  <a:pt x="0" y="0"/>
                </a:lnTo>
                <a:close/>
              </a:path>
            </a:pathLst>
          </a:custGeom>
          <a:solidFill>
            <a:srgbClr val="FFFFFF"/>
          </a:solidFill>
        </p:spPr>
      </p:sp>
      <p:sp>
        <p:nvSpPr>
          <p:cNvPr id="20" name="Text 17"/>
          <p:cNvSpPr/>
          <p:nvPr/>
        </p:nvSpPr>
        <p:spPr>
          <a:xfrm>
            <a:off x="6632314" y="1621539"/>
            <a:ext cx="359932" cy="359932"/>
          </a:xfrm>
          <a:prstGeom prst="rect">
            <a:avLst/>
          </a:prstGeom>
          <a:noFill/>
        </p:spPr>
        <p:txBody>
          <a:bodyPr wrap="square" lIns="45720" tIns="91440" rIns="91440" bIns="45720" rtlCol="0" anchor="t"/>
          <a:lstStyle/>
          <a:p>
            <a:pPr marL="0" indent="0">
              <a:lnSpc>
                <a:spcPct val="100000"/>
              </a:lnSpc>
              <a:buNone/>
            </a:pPr>
            <a:endParaRPr lang="en-US" sz="1600" dirty="0"/>
          </a:p>
        </p:txBody>
      </p:sp>
      <p:pic>
        <p:nvPicPr>
          <p:cNvPr id="21" name="Image 1" descr="https://kimi-img.moonshot.cn/pub/slides/slides_tmpl/image/25-09-28-15:22:09-d3ce488s8jdo4os5dd70.png"/>
          <p:cNvPicPr>
            <a:picLocks noChangeAspect="1"/>
          </p:cNvPicPr>
          <p:nvPr/>
        </p:nvPicPr>
        <p:blipFill>
          <a:blip r:embed="rId4"/>
          <a:stretch>
            <a:fillRect/>
          </a:stretch>
        </p:blipFill>
        <p:spPr>
          <a:xfrm>
            <a:off x="6673324" y="4306259"/>
            <a:ext cx="335280" cy="335280"/>
          </a:xfrm>
          <a:prstGeom prst="rect">
            <a:avLst/>
          </a:prstGeom>
        </p:spPr>
      </p:pic>
      <p:sp>
        <p:nvSpPr>
          <p:cNvPr id="22" name="Text 18"/>
          <p:cNvSpPr/>
          <p:nvPr/>
        </p:nvSpPr>
        <p:spPr>
          <a:xfrm>
            <a:off x="667385" y="524510"/>
            <a:ext cx="6272530" cy="583565"/>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Truy vấn so sánh hiệu năng</a:t>
            </a:r>
            <a:endParaRPr lang="en-US" sz="1600" dirty="0"/>
          </a:p>
        </p:txBody>
      </p:sp>
      <p:sp>
        <p:nvSpPr>
          <p:cNvPr id="23" name="Text 19"/>
          <p:cNvSpPr/>
          <p:nvPr/>
        </p:nvSpPr>
        <p:spPr>
          <a:xfrm>
            <a:off x="870585" y="2510155"/>
            <a:ext cx="5041900" cy="1936750"/>
          </a:xfrm>
          <a:prstGeom prst="rect">
            <a:avLst/>
          </a:prstGeom>
          <a:noFill/>
        </p:spPr>
        <p:txBody>
          <a:bodyPr wrap="square" lIns="91440" tIns="45720" rIns="91440" bIns="45720" rtlCol="0" anchor="t">
            <a:spAutoFit/>
          </a:bodyPr>
          <a:lstStyle/>
          <a:p>
            <a:pPr marL="0" indent="0">
              <a:lnSpc>
                <a:spcPct val="150000"/>
              </a:lnSpc>
              <a:buNone/>
            </a:pPr>
            <a:r>
              <a:rPr lang="en-US" sz="1600" dirty="0">
                <a:solidFill>
                  <a:srgbClr val="2C3741"/>
                </a:solidFill>
                <a:latin typeface="MiSans" pitchFamily="34" charset="-122"/>
                <a:ea typeface="MiSans" pitchFamily="34" charset="-122"/>
                <a:cs typeface="MiSans" pitchFamily="34" charset="-120"/>
              </a:rPr>
              <a:t>Thực hiện truy vấn lọc dữ liệu với MongoDB, ví dụ lọc các bài hát có năm 2009. So sánh thời gian thực thi với Elasticsearch.</a:t>
            </a:r>
            <a:endParaRPr lang="en-US" sz="1600" dirty="0"/>
          </a:p>
        </p:txBody>
      </p:sp>
      <p:sp>
        <p:nvSpPr>
          <p:cNvPr id="24" name="Text 20"/>
          <p:cNvSpPr/>
          <p:nvPr/>
        </p:nvSpPr>
        <p:spPr>
          <a:xfrm>
            <a:off x="870585" y="1900555"/>
            <a:ext cx="5043600" cy="460375"/>
          </a:xfrm>
          <a:prstGeom prst="rect">
            <a:avLst/>
          </a:prstGeom>
          <a:noFill/>
        </p:spPr>
        <p:txBody>
          <a:bodyPr wrap="square" lIns="91440" tIns="45720" rIns="91440" bIns="45720" rtlCol="0" anchor="t">
            <a:spAutoFit/>
          </a:bodyPr>
          <a:lstStyle/>
          <a:p>
            <a:pPr marL="0" indent="0">
              <a:lnSpc>
                <a:spcPct val="100000"/>
              </a:lnSpc>
              <a:buNone/>
            </a:pPr>
            <a:r>
              <a:rPr lang="en-US" sz="2400" b="1" dirty="0">
                <a:solidFill>
                  <a:srgbClr val="2C3741"/>
                </a:solidFill>
                <a:latin typeface="MiSans" pitchFamily="34" charset="-122"/>
                <a:ea typeface="MiSans" pitchFamily="34" charset="-122"/>
                <a:cs typeface="MiSans" pitchFamily="34" charset="-120"/>
              </a:rPr>
              <a:t>Truy vấn lọc dữ liệu</a:t>
            </a:r>
            <a:endParaRPr lang="en-US" sz="1600" dirty="0"/>
          </a:p>
        </p:txBody>
      </p:sp>
      <p:pic>
        <p:nvPicPr>
          <p:cNvPr id="25" name="Image 2" descr="https://kimi-img.moonshot.cn/pub/slides/slides_tmpl/image/25-09-28-15:22:09-d3ce488s8jdo4os5dd7g.png"/>
          <p:cNvPicPr>
            <a:picLocks noChangeAspect="1"/>
          </p:cNvPicPr>
          <p:nvPr/>
        </p:nvPicPr>
        <p:blipFill>
          <a:blip r:embed="rId5"/>
          <a:srcRect t="116" b="116"/>
          <a:stretch>
            <a:fillRect/>
          </a:stretch>
        </p:blipFill>
        <p:spPr>
          <a:xfrm>
            <a:off x="0" y="4958080"/>
            <a:ext cx="2065655" cy="1915795"/>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3-d3ce46os8jdo4os5dcsg.png"/>
          <p:cNvPicPr>
            <a:picLocks noChangeAspect="1"/>
          </p:cNvPicPr>
          <p:nvPr/>
        </p:nvPicPr>
        <p:blipFill>
          <a:blip r:embed="rId3"/>
          <a:srcRect l="5" r="5"/>
          <a:stretch>
            <a:fillRect/>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p:spPr>
      </p:sp>
      <p:sp>
        <p:nvSpPr>
          <p:cNvPr id="4" name="Text 1"/>
          <p:cNvSpPr/>
          <p:nvPr/>
        </p:nvSpPr>
        <p:spPr>
          <a:xfrm>
            <a:off x="5172075" y="1997710"/>
            <a:ext cx="988695" cy="7607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5092065" y="2949575"/>
            <a:ext cx="6986905" cy="1015365"/>
          </a:xfrm>
          <a:prstGeom prst="rect">
            <a:avLst/>
          </a:prstGeom>
          <a:noFill/>
        </p:spPr>
        <p:txBody>
          <a:bodyPr wrap="square" lIns="91440" tIns="45720" rIns="91440" bIns="45720" rtlCol="0" anchor="t"/>
          <a:lstStyle/>
          <a:p>
            <a:pPr marL="0" indent="0">
              <a:lnSpc>
                <a:spcPct val="100000"/>
              </a:lnSpc>
              <a:buNone/>
            </a:pPr>
            <a:r>
              <a:rPr lang="en-US" sz="4000" b="1" dirty="0">
                <a:solidFill>
                  <a:srgbClr val="212931"/>
                </a:solidFill>
                <a:latin typeface="MiSans" pitchFamily="34" charset="-122"/>
                <a:ea typeface="MiSans" pitchFamily="34" charset="-122"/>
                <a:cs typeface="MiSans" pitchFamily="34" charset="-120"/>
              </a:rPr>
              <a:t>Kết luận và triển vọng</a:t>
            </a:r>
            <a:endParaRPr lang="en-US" sz="1600" dirty="0"/>
          </a:p>
        </p:txBody>
      </p:sp>
      <p:sp>
        <p:nvSpPr>
          <p:cNvPr id="6" name="Text 3"/>
          <p:cNvSpPr/>
          <p:nvPr/>
        </p:nvSpPr>
        <p:spPr>
          <a:xfrm>
            <a:off x="254000" y="2086610"/>
            <a:ext cx="3128010" cy="862965"/>
          </a:xfrm>
          <a:prstGeom prst="rect">
            <a:avLst/>
          </a:prstGeom>
          <a:noFill/>
        </p:spPr>
        <p:txBody>
          <a:bodyPr wrap="square" lIns="91440" tIns="45720" rIns="91440" bIns="45720" rtlCol="0" anchor="t"/>
          <a:lstStyle/>
          <a:p>
            <a:pPr marL="0" indent="0">
              <a:lnSpc>
                <a:spcPct val="100000"/>
              </a:lnSpc>
              <a:buNone/>
            </a:pPr>
            <a:r>
              <a:rPr lang="en-US" sz="16600" b="1" dirty="0">
                <a:solidFill>
                  <a:srgbClr val="FFFFFF"/>
                </a:solidFill>
                <a:latin typeface="MiSans" pitchFamily="34" charset="-122"/>
                <a:ea typeface="MiSans" pitchFamily="34" charset="-122"/>
                <a:cs typeface="MiSans" pitchFamily="34" charset="-120"/>
              </a:rPr>
              <a:t>06</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4665345" y="1460500"/>
            <a:ext cx="720000" cy="720000"/>
          </a:xfrm>
          <a:prstGeom prst="roundRect">
            <a:avLst/>
          </a:prstGeom>
          <a:solidFill>
            <a:srgbClr val="D3BDA6"/>
          </a:solidFill>
          <a:ln w="12700">
            <a:solidFill>
              <a:srgbClr val="FFFFFF"/>
            </a:solidFill>
            <a:prstDash val="solid"/>
          </a:ln>
        </p:spPr>
      </p:sp>
      <p:sp>
        <p:nvSpPr>
          <p:cNvPr id="5" name="Text 3"/>
          <p:cNvSpPr/>
          <p:nvPr/>
        </p:nvSpPr>
        <p:spPr>
          <a:xfrm>
            <a:off x="4665345" y="1460500"/>
            <a:ext cx="720000" cy="7200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4655185" y="2941955"/>
            <a:ext cx="720000" cy="720000"/>
          </a:xfrm>
          <a:prstGeom prst="roundRect">
            <a:avLst/>
          </a:prstGeom>
          <a:solidFill>
            <a:srgbClr val="D3BDA6"/>
          </a:solidFill>
        </p:spPr>
      </p:sp>
      <p:sp>
        <p:nvSpPr>
          <p:cNvPr id="7" name="Text 5"/>
          <p:cNvSpPr/>
          <p:nvPr/>
        </p:nvSpPr>
        <p:spPr>
          <a:xfrm>
            <a:off x="4655185" y="2941955"/>
            <a:ext cx="720000" cy="7200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4644390" y="4516120"/>
            <a:ext cx="720000" cy="720000"/>
          </a:xfrm>
          <a:prstGeom prst="roundRect">
            <a:avLst/>
          </a:prstGeom>
          <a:solidFill>
            <a:srgbClr val="D3BDA6"/>
          </a:solidFill>
        </p:spPr>
      </p:sp>
      <p:sp>
        <p:nvSpPr>
          <p:cNvPr id="9" name="Text 7"/>
          <p:cNvSpPr/>
          <p:nvPr/>
        </p:nvSpPr>
        <p:spPr>
          <a:xfrm>
            <a:off x="4644390" y="4516120"/>
            <a:ext cx="720000" cy="72000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0" name="Image 0" descr="https://kimi-img.moonshot.cn/pub/slides/slides_tmpl/image/25-09-28-15:22:13-d3ce498s8jdo4os5ddd0.png"/>
          <p:cNvPicPr>
            <a:picLocks noChangeAspect="1"/>
          </p:cNvPicPr>
          <p:nvPr/>
        </p:nvPicPr>
        <p:blipFill>
          <a:blip r:embed="rId3"/>
          <a:stretch>
            <a:fillRect/>
          </a:stretch>
        </p:blipFill>
        <p:spPr>
          <a:xfrm>
            <a:off x="4806315" y="1600835"/>
            <a:ext cx="438785" cy="438785"/>
          </a:xfrm>
          <a:prstGeom prst="rect">
            <a:avLst/>
          </a:prstGeom>
        </p:spPr>
      </p:pic>
      <p:pic>
        <p:nvPicPr>
          <p:cNvPr id="11" name="Image 1" descr="https://kimi-img.moonshot.cn/pub/slides/slides_tmpl/image/25-09-28-15:22:14-d3ce49gs8jdo4os5dddg.png"/>
          <p:cNvPicPr>
            <a:picLocks noChangeAspect="1"/>
          </p:cNvPicPr>
          <p:nvPr/>
        </p:nvPicPr>
        <p:blipFill>
          <a:blip r:embed="rId4"/>
          <a:stretch>
            <a:fillRect/>
          </a:stretch>
        </p:blipFill>
        <p:spPr>
          <a:xfrm>
            <a:off x="4824730" y="3108325"/>
            <a:ext cx="384175" cy="384175"/>
          </a:xfrm>
          <a:prstGeom prst="rect">
            <a:avLst/>
          </a:prstGeom>
        </p:spPr>
      </p:pic>
      <p:pic>
        <p:nvPicPr>
          <p:cNvPr id="12" name="Image 2" descr="https://kimi-img.moonshot.cn/pub/slides/slides_tmpl/image/25-09-28-15:22:14-d3ce49gs8jdo4os5dde0.png"/>
          <p:cNvPicPr>
            <a:picLocks noChangeAspect="1"/>
          </p:cNvPicPr>
          <p:nvPr/>
        </p:nvPicPr>
        <p:blipFill>
          <a:blip r:embed="rId5"/>
          <a:stretch>
            <a:fillRect/>
          </a:stretch>
        </p:blipFill>
        <p:spPr>
          <a:xfrm>
            <a:off x="4794885" y="4682490"/>
            <a:ext cx="384175" cy="384175"/>
          </a:xfrm>
          <a:prstGeom prst="rect">
            <a:avLst/>
          </a:prstGeom>
        </p:spPr>
      </p:pic>
      <p:sp>
        <p:nvSpPr>
          <p:cNvPr id="13" name="Text 8"/>
          <p:cNvSpPr/>
          <p:nvPr/>
        </p:nvSpPr>
        <p:spPr>
          <a:xfrm>
            <a:off x="667385" y="524510"/>
            <a:ext cx="6272530" cy="487561"/>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Ưu nhược điểm Elasticsearch</a:t>
            </a:r>
            <a:endParaRPr lang="en-US" sz="1600" dirty="0"/>
          </a:p>
        </p:txBody>
      </p:sp>
      <p:sp>
        <p:nvSpPr>
          <p:cNvPr id="14" name="Shape 9"/>
          <p:cNvSpPr/>
          <p:nvPr/>
        </p:nvSpPr>
        <p:spPr>
          <a:xfrm>
            <a:off x="1136197" y="1356360"/>
            <a:ext cx="3056708" cy="2950210"/>
          </a:xfrm>
          <a:prstGeom prst="rect">
            <a:avLst/>
          </a:prstGeom>
          <a:gradFill flip="none" rotWithShape="1">
            <a:gsLst>
              <a:gs pos="0">
                <a:srgbClr val="F4F4F4"/>
              </a:gs>
              <a:gs pos="80000">
                <a:srgbClr val="FFFFFF"/>
              </a:gs>
              <a:gs pos="100000">
                <a:srgbClr val="FFFFFF"/>
              </a:gs>
            </a:gsLst>
            <a:lin ang="2700000" scaled="1"/>
          </a:gradFill>
          <a:ln w="6350">
            <a:solidFill>
              <a:srgbClr val="F4F4F4"/>
            </a:solidFill>
            <a:prstDash val="solid"/>
          </a:ln>
          <a:effectLst>
            <a:outerShdw blurRad="279400" dist="71842" dir="2700000" algn="bl" rotWithShape="0">
              <a:srgbClr val="000000">
                <a:alpha val="10196"/>
              </a:srgbClr>
            </a:outerShdw>
          </a:effectLst>
        </p:spPr>
      </p:sp>
      <p:sp>
        <p:nvSpPr>
          <p:cNvPr id="15" name="Text 10"/>
          <p:cNvSpPr/>
          <p:nvPr/>
        </p:nvSpPr>
        <p:spPr>
          <a:xfrm>
            <a:off x="1136197" y="1356360"/>
            <a:ext cx="3056708" cy="295021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3" descr="https://kimi-img.moonshot.cn/pub/slides/slides_tmpl/image/25-09-28-15:22:16-d3ce4a0s8jdo4os5ddgg.png"/>
          <p:cNvPicPr>
            <a:picLocks noChangeAspect="1"/>
          </p:cNvPicPr>
          <p:nvPr/>
        </p:nvPicPr>
        <p:blipFill>
          <a:blip r:embed="rId6"/>
          <a:srcRect t="81" b="81"/>
          <a:stretch>
            <a:fillRect/>
          </a:stretch>
        </p:blipFill>
        <p:spPr>
          <a:xfrm>
            <a:off x="1324360" y="1538064"/>
            <a:ext cx="2680382" cy="2586502"/>
          </a:xfrm>
          <a:prstGeom prst="rect">
            <a:avLst/>
          </a:prstGeom>
        </p:spPr>
      </p:pic>
      <p:pic>
        <p:nvPicPr>
          <p:cNvPr id="17" name="Image 4" descr="https://kimi-img.moonshot.cn/pub/slides/slides_tmpl/image/25-09-28-15:22:15-d3ce49os8jdo4os5ddeg.png"/>
          <p:cNvPicPr>
            <a:picLocks noChangeAspect="1"/>
          </p:cNvPicPr>
          <p:nvPr/>
        </p:nvPicPr>
        <p:blipFill>
          <a:blip r:embed="rId7"/>
          <a:srcRect t="33727"/>
          <a:stretch>
            <a:fillRect/>
          </a:stretch>
        </p:blipFill>
        <p:spPr>
          <a:xfrm rot="16200000">
            <a:off x="486094" y="1660301"/>
            <a:ext cx="838893" cy="1684590"/>
          </a:xfrm>
          <a:prstGeom prst="rect">
            <a:avLst/>
          </a:prstGeom>
        </p:spPr>
      </p:pic>
      <p:sp>
        <p:nvSpPr>
          <p:cNvPr id="18" name="Shape 11"/>
          <p:cNvSpPr/>
          <p:nvPr/>
        </p:nvSpPr>
        <p:spPr>
          <a:xfrm>
            <a:off x="5711190" y="1659255"/>
            <a:ext cx="0" cy="4500000"/>
          </a:xfrm>
          <a:prstGeom prst="line">
            <a:avLst/>
          </a:prstGeom>
          <a:noFill/>
          <a:ln w="12700">
            <a:solidFill>
              <a:srgbClr val="D3BDA6"/>
            </a:solidFill>
            <a:prstDash val="dash"/>
            <a:headEnd type="none"/>
            <a:tailEnd type="none"/>
          </a:ln>
        </p:spPr>
      </p:sp>
      <p:sp>
        <p:nvSpPr>
          <p:cNvPr id="19" name="Shape 12"/>
          <p:cNvSpPr/>
          <p:nvPr/>
        </p:nvSpPr>
        <p:spPr>
          <a:xfrm>
            <a:off x="5635625" y="1631950"/>
            <a:ext cx="180000" cy="180000"/>
          </a:xfrm>
          <a:prstGeom prst="ellipse">
            <a:avLst/>
          </a:prstGeom>
          <a:solidFill>
            <a:srgbClr val="D3BDA6"/>
          </a:solidFill>
        </p:spPr>
      </p:sp>
      <p:sp>
        <p:nvSpPr>
          <p:cNvPr id="20" name="Text 13"/>
          <p:cNvSpPr/>
          <p:nvPr/>
        </p:nvSpPr>
        <p:spPr>
          <a:xfrm>
            <a:off x="5635625" y="1631950"/>
            <a:ext cx="180000" cy="1800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4"/>
          <p:cNvSpPr/>
          <p:nvPr/>
        </p:nvSpPr>
        <p:spPr>
          <a:xfrm>
            <a:off x="5621655" y="3260725"/>
            <a:ext cx="180000" cy="180000"/>
          </a:xfrm>
          <a:prstGeom prst="ellipse">
            <a:avLst/>
          </a:prstGeom>
          <a:solidFill>
            <a:srgbClr val="D3BDA6"/>
          </a:solidFill>
        </p:spPr>
      </p:sp>
      <p:sp>
        <p:nvSpPr>
          <p:cNvPr id="22" name="Text 15"/>
          <p:cNvSpPr/>
          <p:nvPr/>
        </p:nvSpPr>
        <p:spPr>
          <a:xfrm>
            <a:off x="5621655" y="3260725"/>
            <a:ext cx="180000" cy="1800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16"/>
          <p:cNvSpPr/>
          <p:nvPr/>
        </p:nvSpPr>
        <p:spPr>
          <a:xfrm>
            <a:off x="5610860" y="4834255"/>
            <a:ext cx="180000" cy="180000"/>
          </a:xfrm>
          <a:prstGeom prst="ellipse">
            <a:avLst/>
          </a:prstGeom>
          <a:solidFill>
            <a:srgbClr val="D3BDA6"/>
          </a:solidFill>
        </p:spPr>
      </p:sp>
      <p:sp>
        <p:nvSpPr>
          <p:cNvPr id="24" name="Text 17"/>
          <p:cNvSpPr/>
          <p:nvPr/>
        </p:nvSpPr>
        <p:spPr>
          <a:xfrm>
            <a:off x="5610860" y="4834255"/>
            <a:ext cx="180000" cy="1800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18"/>
          <p:cNvSpPr/>
          <p:nvPr/>
        </p:nvSpPr>
        <p:spPr>
          <a:xfrm rot="5400000">
            <a:off x="5333365" y="1772285"/>
            <a:ext cx="179705" cy="95885"/>
          </a:xfrm>
          <a:prstGeom prst="triangle">
            <a:avLst/>
          </a:prstGeom>
          <a:solidFill>
            <a:srgbClr val="D3BDA6"/>
          </a:solidFill>
        </p:spPr>
      </p:sp>
      <p:sp>
        <p:nvSpPr>
          <p:cNvPr id="26" name="Text 19"/>
          <p:cNvSpPr/>
          <p:nvPr/>
        </p:nvSpPr>
        <p:spPr>
          <a:xfrm rot="5400000">
            <a:off x="5333365" y="1772285"/>
            <a:ext cx="179705" cy="9588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0"/>
          <p:cNvSpPr/>
          <p:nvPr/>
        </p:nvSpPr>
        <p:spPr>
          <a:xfrm rot="5400000">
            <a:off x="5323205" y="3254375"/>
            <a:ext cx="179705" cy="95885"/>
          </a:xfrm>
          <a:prstGeom prst="triangle">
            <a:avLst/>
          </a:prstGeom>
          <a:solidFill>
            <a:srgbClr val="D3BDA6"/>
          </a:solidFill>
        </p:spPr>
      </p:sp>
      <p:sp>
        <p:nvSpPr>
          <p:cNvPr id="28" name="Text 21"/>
          <p:cNvSpPr/>
          <p:nvPr/>
        </p:nvSpPr>
        <p:spPr>
          <a:xfrm rot="5400000">
            <a:off x="5323205" y="3254375"/>
            <a:ext cx="179705" cy="9588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2"/>
          <p:cNvSpPr/>
          <p:nvPr/>
        </p:nvSpPr>
        <p:spPr>
          <a:xfrm rot="5400000">
            <a:off x="5312410" y="4827905"/>
            <a:ext cx="179705" cy="95885"/>
          </a:xfrm>
          <a:prstGeom prst="triangle">
            <a:avLst/>
          </a:prstGeom>
          <a:solidFill>
            <a:srgbClr val="D3BDA6"/>
          </a:solidFill>
        </p:spPr>
      </p:sp>
      <p:sp>
        <p:nvSpPr>
          <p:cNvPr id="30" name="Text 23"/>
          <p:cNvSpPr/>
          <p:nvPr/>
        </p:nvSpPr>
        <p:spPr>
          <a:xfrm rot="5400000">
            <a:off x="5312410" y="4827905"/>
            <a:ext cx="179705" cy="9588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Text 24"/>
          <p:cNvSpPr/>
          <p:nvPr/>
        </p:nvSpPr>
        <p:spPr>
          <a:xfrm>
            <a:off x="6120765" y="1847215"/>
            <a:ext cx="5371465" cy="862409"/>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có tốc độ tìm kiếm gần như thời gian thực, hỗ trợ tìm kiếm mờ và mở rộng phân tán dễ dàng. Nó có hệ sinh thái mạnh mẽ và hỗ trợ nhiều ngôn ngữ lập trình.</a:t>
            </a:r>
            <a:endParaRPr lang="en-US" sz="1600" dirty="0"/>
          </a:p>
        </p:txBody>
      </p:sp>
      <p:sp>
        <p:nvSpPr>
          <p:cNvPr id="32" name="Text 25"/>
          <p:cNvSpPr/>
          <p:nvPr/>
        </p:nvSpPr>
        <p:spPr>
          <a:xfrm>
            <a:off x="6120765" y="3139440"/>
            <a:ext cx="5371465" cy="276225"/>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Ứng dụng lý tưởng</a:t>
            </a:r>
            <a:endParaRPr lang="en-US" sz="1600" dirty="0"/>
          </a:p>
        </p:txBody>
      </p:sp>
      <p:sp>
        <p:nvSpPr>
          <p:cNvPr id="33" name="Text 26"/>
          <p:cNvSpPr/>
          <p:nvPr/>
        </p:nvSpPr>
        <p:spPr>
          <a:xfrm>
            <a:off x="6120765" y="3465195"/>
            <a:ext cx="5371465" cy="862409"/>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lý tưởng cho các ứng dụng cần tìm kiếm dữ liệu nhanh chóng, như hệ thống log, giám sát và phân tích dữ liệu. Nó thường được sử dụng song song với cơ sở dữ liệu chính.</a:t>
            </a:r>
            <a:endParaRPr lang="en-US" sz="1600" dirty="0"/>
          </a:p>
        </p:txBody>
      </p:sp>
      <p:sp>
        <p:nvSpPr>
          <p:cNvPr id="34" name="Text 27"/>
          <p:cNvSpPr/>
          <p:nvPr/>
        </p:nvSpPr>
        <p:spPr>
          <a:xfrm>
            <a:off x="6120765" y="1521460"/>
            <a:ext cx="5371465" cy="276225"/>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Ưu điểm</a:t>
            </a:r>
            <a:endParaRPr lang="en-US" sz="1600" dirty="0"/>
          </a:p>
        </p:txBody>
      </p:sp>
      <p:sp>
        <p:nvSpPr>
          <p:cNvPr id="35" name="Text 28"/>
          <p:cNvSpPr/>
          <p:nvPr/>
        </p:nvSpPr>
        <p:spPr>
          <a:xfrm>
            <a:off x="6120765" y="5083175"/>
            <a:ext cx="5371465" cy="862409"/>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Không nên sử dụng Elasticsearch làm cơ sở dữ liệu chính. Nó phù hợp với các ứng dụng cần tốc độ tìm kiếm cao và phân tích dữ liệu theo thời gian thực.</a:t>
            </a:r>
            <a:endParaRPr lang="en-US" sz="1600" dirty="0"/>
          </a:p>
        </p:txBody>
      </p:sp>
      <p:sp>
        <p:nvSpPr>
          <p:cNvPr id="36" name="Text 29"/>
          <p:cNvSpPr/>
          <p:nvPr/>
        </p:nvSpPr>
        <p:spPr>
          <a:xfrm>
            <a:off x="6120765" y="4757420"/>
            <a:ext cx="5371465" cy="276225"/>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Khuyến nghị</a:t>
            </a:r>
            <a:endParaRPr lang="en-US" sz="1600" dirty="0"/>
          </a:p>
        </p:txBody>
      </p:sp>
      <p:sp>
        <p:nvSpPr>
          <p:cNvPr id="37" name="Text 30"/>
          <p:cNvSpPr/>
          <p:nvPr/>
        </p:nvSpPr>
        <p:spPr>
          <a:xfrm>
            <a:off x="467360" y="4941570"/>
            <a:ext cx="4132580" cy="862409"/>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2C3741"/>
                </a:solidFill>
                <a:latin typeface="MiSans" pitchFamily="34" charset="-122"/>
                <a:ea typeface="MiSans" pitchFamily="34" charset="-122"/>
                <a:cs typeface="MiSans" pitchFamily="34" charset="-120"/>
              </a:rPr>
              <a:t>Elasticsearch không hỗ trợ transaction và có bảo mật thấp. Nó không mạnh trong các thao tác CRUD và tốn nhiều tài nguyên hệ thống.</a:t>
            </a:r>
            <a:endParaRPr lang="en-US" sz="1600" dirty="0"/>
          </a:p>
        </p:txBody>
      </p:sp>
      <p:sp>
        <p:nvSpPr>
          <p:cNvPr id="38" name="Text 31"/>
          <p:cNvSpPr/>
          <p:nvPr/>
        </p:nvSpPr>
        <p:spPr>
          <a:xfrm>
            <a:off x="467360" y="4594225"/>
            <a:ext cx="4132580" cy="276225"/>
          </a:xfrm>
          <a:prstGeom prst="rect">
            <a:avLst/>
          </a:prstGeom>
          <a:noFill/>
        </p:spPr>
        <p:txBody>
          <a:bodyPr wrap="square" lIns="91440" tIns="45720" rIns="91440" bIns="45720" rtlCol="0" anchor="t">
            <a:spAutoFit/>
          </a:bodyPr>
          <a:lstStyle/>
          <a:p>
            <a:pPr marL="0" indent="0">
              <a:lnSpc>
                <a:spcPct val="100000"/>
              </a:lnSpc>
              <a:buNone/>
            </a:pPr>
            <a:r>
              <a:rPr lang="en-US" sz="1800" b="1" dirty="0">
                <a:solidFill>
                  <a:srgbClr val="DBB479"/>
                </a:solidFill>
                <a:latin typeface="MiSans" pitchFamily="34" charset="-122"/>
                <a:ea typeface="MiSans" pitchFamily="34" charset="-122"/>
                <a:cs typeface="MiSans" pitchFamily="34" charset="-120"/>
              </a:rPr>
              <a:t>Nhược điểm</a:t>
            </a:r>
            <a:endParaRPr lang="en-US" sz="1600" dirty="0"/>
          </a:p>
        </p:txBody>
      </p:sp>
      <p:pic>
        <p:nvPicPr>
          <p:cNvPr id="39" name="Image 5" descr="https://kimi-img.moonshot.cn/pub/slides/slides_tmpl/image/25-09-28-15:22:15-d3ce49os8jdo4os5ddfg.png"/>
          <p:cNvPicPr>
            <a:picLocks noChangeAspect="1"/>
          </p:cNvPicPr>
          <p:nvPr/>
        </p:nvPicPr>
        <p:blipFill>
          <a:blip r:embed="rId8"/>
          <a:stretch>
            <a:fillRect/>
          </a:stretch>
        </p:blipFill>
        <p:spPr>
          <a:xfrm>
            <a:off x="0" y="3931920"/>
            <a:ext cx="694690" cy="2926080"/>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p:spPr>
      </p:sp>
      <p:sp>
        <p:nvSpPr>
          <p:cNvPr id="3" name="Text 1"/>
          <p:cNvSpPr/>
          <p:nvPr/>
        </p:nvSpPr>
        <p:spPr>
          <a:xfrm rot="8100000">
            <a:off x="457835" y="315595"/>
            <a:ext cx="525780" cy="5257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p:spPr>
      </p:sp>
      <p:sp>
        <p:nvSpPr>
          <p:cNvPr id="5" name="Text 3"/>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p:spPr>
      </p:sp>
      <p:sp>
        <p:nvSpPr>
          <p:cNvPr id="7" name="Text 5"/>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p:spPr>
      </p:sp>
      <p:sp>
        <p:nvSpPr>
          <p:cNvPr id="9" name="Text 7"/>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p:spPr>
      </p:sp>
      <p:sp>
        <p:nvSpPr>
          <p:cNvPr id="11" name="Text 9"/>
          <p:cNvSpPr/>
          <p:nvPr/>
        </p:nvSpPr>
        <p:spPr>
          <a:xfrm>
            <a:off x="11456035" y="59213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p:spPr>
      </p:sp>
      <p:sp>
        <p:nvSpPr>
          <p:cNvPr id="13" name="Text 11"/>
          <p:cNvSpPr/>
          <p:nvPr/>
        </p:nvSpPr>
        <p:spPr>
          <a:xfrm>
            <a:off x="11456035" y="712153"/>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p:spPr>
      </p:sp>
      <p:sp>
        <p:nvSpPr>
          <p:cNvPr id="15" name="Text 13"/>
          <p:cNvSpPr/>
          <p:nvPr/>
        </p:nvSpPr>
        <p:spPr>
          <a:xfrm>
            <a:off x="11456035" y="832168"/>
            <a:ext cx="351155" cy="438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Text 14"/>
          <p:cNvSpPr/>
          <p:nvPr/>
        </p:nvSpPr>
        <p:spPr>
          <a:xfrm>
            <a:off x="667385" y="524510"/>
            <a:ext cx="6272530" cy="487561"/>
          </a:xfrm>
          <a:prstGeom prst="rect">
            <a:avLst/>
          </a:prstGeom>
          <a:noFill/>
        </p:spPr>
        <p:txBody>
          <a:bodyPr wrap="square" lIns="91440" tIns="45720" rIns="91440" bIns="45720" rtlCol="0" anchor="t">
            <a:spAutoFit/>
          </a:bodyPr>
          <a:lstStyle/>
          <a:p>
            <a:pPr marL="0" indent="0">
              <a:lnSpc>
                <a:spcPct val="100000"/>
              </a:lnSpc>
              <a:buNone/>
            </a:pPr>
            <a:r>
              <a:rPr lang="en-US" sz="3200" b="1" dirty="0">
                <a:solidFill>
                  <a:srgbClr val="2B2F36"/>
                </a:solidFill>
                <a:latin typeface="MiSans" pitchFamily="34" charset="-122"/>
                <a:ea typeface="MiSans" pitchFamily="34" charset="-122"/>
                <a:cs typeface="MiSans" pitchFamily="34" charset="-120"/>
              </a:rPr>
              <a:t>Định hướng ứng dụng tương lai</a:t>
            </a:r>
            <a:endParaRPr lang="en-US" sz="1600" dirty="0"/>
          </a:p>
        </p:txBody>
      </p:sp>
      <p:sp>
        <p:nvSpPr>
          <p:cNvPr id="17"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p:spPr>
      </p:sp>
      <p:sp>
        <p:nvSpPr>
          <p:cNvPr id="18" name="Text 16"/>
          <p:cNvSpPr/>
          <p:nvPr/>
        </p:nvSpPr>
        <p:spPr>
          <a:xfrm>
            <a:off x="-16510" y="6572885"/>
            <a:ext cx="12221210" cy="28511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9" name="Image 0" descr="https://kimi-img.moonshot.cn/pub/slides/slides_tmpl/image/25-09-28-15:22:08-d3ce480s8jdo4os5dd30.png"/>
          <p:cNvPicPr>
            <a:picLocks noChangeAspect="1"/>
          </p:cNvPicPr>
          <p:nvPr/>
        </p:nvPicPr>
        <p:blipFill>
          <a:blip r:embed="rId3"/>
          <a:srcRect t="137" b="137"/>
          <a:stretch>
            <a:fillRect/>
          </a:stretch>
        </p:blipFill>
        <p:spPr>
          <a:xfrm>
            <a:off x="827723" y="1517650"/>
            <a:ext cx="10536555" cy="2073275"/>
          </a:xfrm>
          <a:prstGeom prst="rect">
            <a:avLst/>
          </a:prstGeom>
        </p:spPr>
      </p:pic>
      <p:sp>
        <p:nvSpPr>
          <p:cNvPr id="20" name="Text 17"/>
          <p:cNvSpPr/>
          <p:nvPr/>
        </p:nvSpPr>
        <p:spPr>
          <a:xfrm>
            <a:off x="1162050" y="4015105"/>
            <a:ext cx="4383405" cy="303411"/>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MiSans" pitchFamily="34" charset="-122"/>
                <a:ea typeface="MiSans" pitchFamily="34" charset="-122"/>
                <a:cs typeface="MiSans" pitchFamily="34" charset="-120"/>
              </a:rPr>
              <a:t>Tích hợp công nghệ</a:t>
            </a:r>
            <a:endParaRPr lang="en-US" sz="1600" dirty="0"/>
          </a:p>
        </p:txBody>
      </p:sp>
      <p:sp>
        <p:nvSpPr>
          <p:cNvPr id="21" name="Text 18"/>
          <p:cNvSpPr/>
          <p:nvPr/>
        </p:nvSpPr>
        <p:spPr>
          <a:xfrm>
            <a:off x="1162050" y="4429125"/>
            <a:ext cx="4381951" cy="1149945"/>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000000"/>
                </a:solidFill>
                <a:latin typeface="MiSans" pitchFamily="34" charset="-122"/>
                <a:ea typeface="MiSans" pitchFamily="34" charset="-122"/>
                <a:cs typeface="MiSans" pitchFamily="34" charset="-120"/>
              </a:rPr>
              <a:t>Elasticsearch có thể tích hợp với Kafka, Spark và Hadoop để xây dựng hệ thống phân tích dữ liệu thời gian thực. Kết hợp với Machine Learning giúp phát hiện xu hướng và bất thường trong dữ liệu.</a:t>
            </a:r>
            <a:endParaRPr lang="en-US" sz="1600" dirty="0"/>
          </a:p>
        </p:txBody>
      </p:sp>
      <p:sp>
        <p:nvSpPr>
          <p:cNvPr id="22" name="Shape 19"/>
          <p:cNvSpPr/>
          <p:nvPr/>
        </p:nvSpPr>
        <p:spPr>
          <a:xfrm>
            <a:off x="826770" y="3748405"/>
            <a:ext cx="4998720" cy="2484120"/>
          </a:xfrm>
          <a:prstGeom prst="roundRect">
            <a:avLst>
              <a:gd name="adj" fmla="val 6850"/>
            </a:avLst>
          </a:prstGeom>
          <a:solidFill>
            <a:srgbClr val="000000">
              <a:alpha val="0"/>
            </a:srgbClr>
          </a:solidFill>
          <a:ln w="19050">
            <a:solidFill>
              <a:srgbClr val="D3BDA6"/>
            </a:solidFill>
            <a:prstDash val="solid"/>
          </a:ln>
        </p:spPr>
      </p:sp>
      <p:sp>
        <p:nvSpPr>
          <p:cNvPr id="23" name="Text 20"/>
          <p:cNvSpPr/>
          <p:nvPr/>
        </p:nvSpPr>
        <p:spPr>
          <a:xfrm>
            <a:off x="826770" y="3748405"/>
            <a:ext cx="4998720" cy="24841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rot="8100000" flipH="1" flipV="1">
            <a:off x="1042035" y="3917950"/>
            <a:ext cx="407035" cy="366395"/>
          </a:xfrm>
          <a:prstGeom prst="ellipse">
            <a:avLst/>
          </a:prstGeom>
          <a:gradFill flip="none" rotWithShape="1">
            <a:gsLst>
              <a:gs pos="0">
                <a:srgbClr val="D3BDA6">
                  <a:alpha val="0"/>
                </a:srgbClr>
              </a:gs>
              <a:gs pos="100000">
                <a:srgbClr val="B48E67">
                  <a:alpha val="67000"/>
                </a:srgbClr>
              </a:gs>
            </a:gsLst>
            <a:lin ang="16200000" scaled="1"/>
          </a:gradFill>
        </p:spPr>
      </p:sp>
      <p:sp>
        <p:nvSpPr>
          <p:cNvPr id="25" name="Text 22"/>
          <p:cNvSpPr/>
          <p:nvPr/>
        </p:nvSpPr>
        <p:spPr>
          <a:xfrm rot="8100000">
            <a:off x="1042035" y="3917950"/>
            <a:ext cx="407035" cy="3663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23"/>
          <p:cNvSpPr/>
          <p:nvPr/>
        </p:nvSpPr>
        <p:spPr>
          <a:xfrm>
            <a:off x="6668770" y="4015105"/>
            <a:ext cx="4383405" cy="303411"/>
          </a:xfrm>
          <a:prstGeom prst="rect">
            <a:avLst/>
          </a:prstGeom>
          <a:noFill/>
        </p:spPr>
        <p:txBody>
          <a:bodyPr wrap="square" lIns="91440" tIns="45720" rIns="91440" bIns="45720" rtlCol="0" anchor="t">
            <a:spAutoFit/>
          </a:bodyPr>
          <a:lstStyle/>
          <a:p>
            <a:pPr marL="0" indent="0">
              <a:lnSpc>
                <a:spcPct val="100000"/>
              </a:lnSpc>
              <a:buNone/>
            </a:pPr>
            <a:r>
              <a:rPr lang="en-US" sz="2000" b="1" dirty="0">
                <a:solidFill>
                  <a:srgbClr val="000000"/>
                </a:solidFill>
                <a:latin typeface="MiSans" pitchFamily="34" charset="-122"/>
                <a:ea typeface="MiSans" pitchFamily="34" charset="-122"/>
                <a:cs typeface="MiSans" pitchFamily="34" charset="-120"/>
              </a:rPr>
              <a:t>Ứng dụng đa dạng</a:t>
            </a:r>
            <a:endParaRPr lang="en-US" sz="1600" dirty="0"/>
          </a:p>
        </p:txBody>
      </p:sp>
      <p:sp>
        <p:nvSpPr>
          <p:cNvPr id="27" name="Text 24"/>
          <p:cNvSpPr/>
          <p:nvPr/>
        </p:nvSpPr>
        <p:spPr>
          <a:xfrm>
            <a:off x="6668770" y="4429125"/>
            <a:ext cx="4381951" cy="1149945"/>
          </a:xfrm>
          <a:prstGeom prst="rect">
            <a:avLst/>
          </a:prstGeom>
          <a:noFill/>
        </p:spPr>
        <p:txBody>
          <a:bodyPr wrap="square" lIns="91440" tIns="45720" rIns="91440" bIns="45720" rtlCol="0" anchor="t">
            <a:spAutoFit/>
          </a:bodyPr>
          <a:lstStyle/>
          <a:p>
            <a:pPr marL="0" indent="0">
              <a:lnSpc>
                <a:spcPct val="130000"/>
              </a:lnSpc>
              <a:buNone/>
            </a:pPr>
            <a:r>
              <a:rPr lang="en-US" sz="1400" dirty="0">
                <a:solidFill>
                  <a:srgbClr val="000000"/>
                </a:solidFill>
                <a:latin typeface="MiSans" pitchFamily="34" charset="-122"/>
                <a:ea typeface="MiSans" pitchFamily="34" charset="-122"/>
                <a:cs typeface="MiSans" pitchFamily="34" charset="-120"/>
              </a:rPr>
              <a:t>Elasticsearch có thể mở rộng sang các lĩnh vực như tài chính, y tế, thương mại điện tử và IoT. Nó hỗ trợ tìm kiếm ngữ nghĩa và recommendation system, giúp cải thiện trải nghiệm người dùng.</a:t>
            </a:r>
            <a:endParaRPr lang="en-US" sz="1600" dirty="0"/>
          </a:p>
        </p:txBody>
      </p:sp>
      <p:sp>
        <p:nvSpPr>
          <p:cNvPr id="28" name="Shape 25"/>
          <p:cNvSpPr/>
          <p:nvPr/>
        </p:nvSpPr>
        <p:spPr>
          <a:xfrm>
            <a:off x="6333490" y="3748405"/>
            <a:ext cx="4998720" cy="2484120"/>
          </a:xfrm>
          <a:prstGeom prst="roundRect">
            <a:avLst>
              <a:gd name="adj" fmla="val 6850"/>
            </a:avLst>
          </a:prstGeom>
          <a:solidFill>
            <a:srgbClr val="000000">
              <a:alpha val="0"/>
            </a:srgbClr>
          </a:solidFill>
          <a:ln w="19050">
            <a:solidFill>
              <a:srgbClr val="D3BDA6"/>
            </a:solidFill>
            <a:prstDash val="solid"/>
          </a:ln>
        </p:spPr>
      </p:sp>
      <p:sp>
        <p:nvSpPr>
          <p:cNvPr id="29" name="Text 26"/>
          <p:cNvSpPr/>
          <p:nvPr/>
        </p:nvSpPr>
        <p:spPr>
          <a:xfrm>
            <a:off x="6333490" y="3748405"/>
            <a:ext cx="4998720" cy="24841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0" name="Shape 27"/>
          <p:cNvSpPr/>
          <p:nvPr/>
        </p:nvSpPr>
        <p:spPr>
          <a:xfrm rot="8100000" flipH="1" flipV="1">
            <a:off x="6548755" y="3917950"/>
            <a:ext cx="407035" cy="366395"/>
          </a:xfrm>
          <a:prstGeom prst="ellipse">
            <a:avLst/>
          </a:prstGeom>
          <a:gradFill flip="none" rotWithShape="1">
            <a:gsLst>
              <a:gs pos="0">
                <a:srgbClr val="D3BDA6">
                  <a:alpha val="0"/>
                </a:srgbClr>
              </a:gs>
              <a:gs pos="100000">
                <a:srgbClr val="B48E67">
                  <a:alpha val="67000"/>
                </a:srgbClr>
              </a:gs>
            </a:gsLst>
            <a:lin ang="16200000" scaled="1"/>
          </a:gradFill>
        </p:spPr>
      </p:sp>
      <p:sp>
        <p:nvSpPr>
          <p:cNvPr id="31" name="Text 28"/>
          <p:cNvSpPr/>
          <p:nvPr/>
        </p:nvSpPr>
        <p:spPr>
          <a:xfrm rot="8100000">
            <a:off x="6548755" y="3917950"/>
            <a:ext cx="407035" cy="36639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28-15:22:02-d3ce46gs8jdo4os5dcpg.png"/>
          <p:cNvPicPr>
            <a:picLocks noChangeAspect="1"/>
          </p:cNvPicPr>
          <p:nvPr/>
        </p:nvPicPr>
        <p:blipFill>
          <a:blip r:embed="rId3"/>
          <a:srcRect l="3" r="3"/>
          <a:stretch>
            <a:fillRect/>
          </a:stretch>
        </p:blipFill>
        <p:spPr>
          <a:xfrm>
            <a:off x="-15875" y="-4445"/>
            <a:ext cx="12233910" cy="6859905"/>
          </a:xfrm>
          <a:prstGeom prst="rect">
            <a:avLst/>
          </a:prstGeom>
        </p:spPr>
      </p:pic>
      <p:sp>
        <p:nvSpPr>
          <p:cNvPr id="4" name="Text 1"/>
          <p:cNvSpPr/>
          <p:nvPr/>
        </p:nvSpPr>
        <p:spPr>
          <a:xfrm>
            <a:off x="4926958" y="4684395"/>
            <a:ext cx="2337402" cy="5029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4926958" y="5387340"/>
            <a:ext cx="2337402" cy="5029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Text 6"/>
          <p:cNvSpPr/>
          <p:nvPr/>
        </p:nvSpPr>
        <p:spPr>
          <a:xfrm>
            <a:off x="2553970" y="1955165"/>
            <a:ext cx="7061200" cy="3299460"/>
          </a:xfrm>
          <a:prstGeom prst="rect">
            <a:avLst/>
          </a:prstGeom>
          <a:noFill/>
        </p:spPr>
        <p:txBody>
          <a:bodyPr wrap="square" lIns="91440" tIns="45720" rIns="91440" bIns="45720" rtlCol="0" anchor="t"/>
          <a:lstStyle/>
          <a:p>
            <a:pPr marL="0" indent="0" algn="ctr">
              <a:lnSpc>
                <a:spcPct val="100000"/>
              </a:lnSpc>
              <a:buNone/>
            </a:pPr>
            <a:r>
              <a:rPr lang="en-US" sz="9600" b="1" dirty="0">
                <a:solidFill>
                  <a:srgbClr val="FFFFFF"/>
                </a:solidFill>
                <a:latin typeface="MiSans" pitchFamily="34" charset="-122"/>
                <a:ea typeface="MiSans" pitchFamily="34" charset="-122"/>
                <a:cs typeface="MiSans" pitchFamily="34" charset="-120"/>
              </a:rPr>
              <a:t>THANK</a:t>
            </a:r>
            <a:endParaRPr lang="en-US" sz="1600" dirty="0"/>
          </a:p>
          <a:p>
            <a:pPr marL="0" indent="0" algn="ctr">
              <a:lnSpc>
                <a:spcPct val="100000"/>
              </a:lnSpc>
              <a:buNone/>
            </a:pPr>
            <a:r>
              <a:rPr lang="en-US" sz="9600" b="1" dirty="0">
                <a:solidFill>
                  <a:srgbClr val="FFFFFF"/>
                </a:solidFill>
                <a:latin typeface="MiSans" pitchFamily="34" charset="-122"/>
                <a:ea typeface="MiSans" pitchFamily="34" charset="-122"/>
                <a:cs typeface="MiSans" pitchFamily="34" charset="-120"/>
              </a:rPr>
              <a:t>YOU</a:t>
            </a:r>
            <a:endParaRPr lang="en-US" sz="1600" dirty="0"/>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3.15000000000003,&quot;left&quot;:447,&quot;top&quot;:93.42503937007874,&quot;width&quot;:417.3947244094488}"/>
</p:tagLst>
</file>

<file path=ppt/theme/theme1.xml><?xml version="1.0" encoding="utf-8"?>
<a:theme xmlns:a="http://schemas.openxmlformats.org/drawingml/2006/main" name="Custom Theme">
  <a:themeElements>
    <a:clrScheme name="Custom">
      <a:dk1>
        <a:srgbClr val="000000"/>
      </a:dk1>
      <a:lt1>
        <a:srgbClr val="FFFFFF"/>
      </a:lt1>
      <a:dk2>
        <a:srgbClr val="000000"/>
      </a:dk2>
      <a:lt2>
        <a:srgbClr val="00007D"/>
      </a:lt2>
      <a:accent1>
        <a:srgbClr val="D3BDA6"/>
      </a:accent1>
      <a:accent2>
        <a:srgbClr val="DBB479"/>
      </a:accent2>
      <a:accent3>
        <a:srgbClr val="AB8A7D"/>
      </a:accent3>
      <a:accent4>
        <a:srgbClr val="2C3741"/>
      </a:accent4>
      <a:accent5>
        <a:srgbClr val="2C3741"/>
      </a:accent5>
      <a:accent6>
        <a:srgbClr val="DBB479"/>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000000"/>
      </a:dk2>
      <a:lt2>
        <a:srgbClr val="00007D"/>
      </a:lt2>
      <a:accent1>
        <a:srgbClr val="D3BDA6"/>
      </a:accent1>
      <a:accent2>
        <a:srgbClr val="DBB479"/>
      </a:accent2>
      <a:accent3>
        <a:srgbClr val="AB8A7D"/>
      </a:accent3>
      <a:accent4>
        <a:srgbClr val="2C3741"/>
      </a:accent4>
      <a:accent5>
        <a:srgbClr val="2C3741"/>
      </a:accent5>
      <a:accent6>
        <a:srgbClr val="DBB479"/>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1730</Words>
  <Application>Microsoft Office PowerPoint</Application>
  <PresentationFormat>Widescreen</PresentationFormat>
  <Paragraphs>143</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Calibri</vt:lpstr>
      <vt:lpstr>Arial</vt:lpstr>
      <vt:lpstr>MiSans</vt:lpstr>
      <vt:lpstr>Times New Roman</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Elasticsearch và Ứng Dụng Trong Big Data</dc:title>
  <dc:subject>Elasticsearch và Ứng Dụng Trong Big Data</dc:subject>
  <dc:creator>Kimi</dc:creator>
  <cp:lastModifiedBy>Quốc Anh Vương Đình</cp:lastModifiedBy>
  <cp:revision>3</cp:revision>
  <dcterms:created xsi:type="dcterms:W3CDTF">2025-11-02T06:47:00Z</dcterms:created>
  <dcterms:modified xsi:type="dcterms:W3CDTF">2025-11-04T01:34:15Z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{"Label":"Elasticsearch và Ứng Dụng Trong Big Data","ContentProducer":"001191110108MACG2KBH8F10000","ProduceID":"d43fit8gts4eek5182n0","ReservedCode1":"","ContentPropagator":"001191110108MACG2KBH8F20000","PropagateID":"d43fit8gts4eek5182n0","ReservedCode2":""}</vt:lpwstr>
  </property>
  <property fmtid="{D5CDD505-2E9C-101B-9397-08002B2CF9AE}" pid="3" name="ICV">
    <vt:lpwstr>555446486AF6467C8C25DE83C1F36DC1_12</vt:lpwstr>
  </property>
  <property fmtid="{D5CDD505-2E9C-101B-9397-08002B2CF9AE}" pid="4" name="KSOProductBuildVer">
    <vt:lpwstr>2057-12.2.0.23149</vt:lpwstr>
  </property>
</Properties>
</file>